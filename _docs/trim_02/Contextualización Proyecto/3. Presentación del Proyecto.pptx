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76" r:id="rId10"/>
    <p:sldId id="274" r:id="rId11"/>
    <p:sldId id="275" r:id="rId12"/>
  </p:sldIdLst>
  <p:sldSz cx="12192000" cy="6858000"/>
  <p:notesSz cx="6858000" cy="9144000"/>
  <p:embeddedFontLst>
    <p:embeddedFont>
      <p:font typeface="Work Sans" pitchFamily="2" charset="0"/>
      <p:regular r:id="rId14"/>
      <p:bold r:id="rId15"/>
      <p:italic r:id="rId16"/>
      <p:boldItalic r:id="rId17"/>
    </p:embeddedFont>
    <p:embeddedFont>
      <p:font typeface="Work Sans Light" pitchFamily="2" charset="0"/>
      <p:regular r:id="rId18"/>
      <p:bold r:id="rId19"/>
      <p:italic r:id="rId20"/>
      <p:boldItalic r:id="rId21"/>
    </p:embeddedFont>
    <p:embeddedFont>
      <p:font typeface="Work Sans Medium"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5U4lGs0HM2gfvZJJ6+gxtNsYI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775" autoAdjust="0"/>
  </p:normalViewPr>
  <p:slideViewPr>
    <p:cSldViewPr snapToGrid="0">
      <p:cViewPr>
        <p:scale>
          <a:sx n="125" d="100"/>
          <a:sy n="125" d="100"/>
        </p:scale>
        <p:origin x="2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4A2D685-B0ED-58AB-47FE-DDE94E821D79}"/>
            </a:ext>
          </a:extLst>
        </p:cNvPr>
        <p:cNvGrpSpPr/>
        <p:nvPr/>
      </p:nvGrpSpPr>
      <p:grpSpPr>
        <a:xfrm>
          <a:off x="0" y="0"/>
          <a:ext cx="0" cy="0"/>
          <a:chOff x="0" y="0"/>
          <a:chExt cx="0" cy="0"/>
        </a:xfrm>
      </p:grpSpPr>
      <p:sp>
        <p:nvSpPr>
          <p:cNvPr id="156" name="Google Shape;156;p10:notes">
            <a:extLst>
              <a:ext uri="{FF2B5EF4-FFF2-40B4-BE49-F238E27FC236}">
                <a16:creationId xmlns:a16="http://schemas.microsoft.com/office/drawing/2014/main" id="{C2E7195C-9EF5-6F28-E935-DF5523F002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0:notes">
            <a:extLst>
              <a:ext uri="{FF2B5EF4-FFF2-40B4-BE49-F238E27FC236}">
                <a16:creationId xmlns:a16="http://schemas.microsoft.com/office/drawing/2014/main" id="{A178D822-FCB9-A414-32EF-B3833C3BA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18747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262" name="Google Shape;26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7"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18"/>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19"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19"/>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9"/>
          <p:cNvSpPr>
            <a:spLocks noGrp="1"/>
          </p:cNvSpPr>
          <p:nvPr>
            <p:ph type="pic" idx="2"/>
          </p:nvPr>
        </p:nvSpPr>
        <p:spPr>
          <a:xfrm>
            <a:off x="5183188" y="987425"/>
            <a:ext cx="6172200" cy="4873625"/>
          </a:xfrm>
          <a:prstGeom prst="rect">
            <a:avLst/>
          </a:prstGeom>
          <a:noFill/>
          <a:ln>
            <a:noFill/>
          </a:ln>
        </p:spPr>
        <p:txBody>
          <a:bodyPr/>
          <a:lstStyle/>
          <a:p>
            <a:endParaRPr lang="es-CO"/>
          </a:p>
        </p:txBody>
      </p:sp>
      <p:sp>
        <p:nvSpPr>
          <p:cNvPr id="80" name="Google Shape;8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995424" y="2551825"/>
            <a:ext cx="5372400" cy="1616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3300" b="1">
                <a:solidFill>
                  <a:srgbClr val="3F3F3F"/>
                </a:solidFill>
                <a:latin typeface="Work Sans"/>
                <a:ea typeface="Work Sans"/>
                <a:cs typeface="Work Sans"/>
                <a:sym typeface="Work Sans"/>
              </a:rPr>
              <a:t>Zona Asistida para Animales en Protección</a:t>
            </a:r>
            <a:endParaRPr sz="3300" b="1">
              <a:solidFill>
                <a:srgbClr val="3F3F3F"/>
              </a:solidFill>
              <a:latin typeface="Work Sans"/>
              <a:ea typeface="Work Sans"/>
              <a:cs typeface="Work Sans"/>
              <a:sym typeface="Work Sans"/>
            </a:endParaRPr>
          </a:p>
          <a:p>
            <a:pPr marL="0" marR="0" lvl="0" indent="0" algn="l" rtl="0">
              <a:spcBef>
                <a:spcPts val="0"/>
              </a:spcBef>
              <a:spcAft>
                <a:spcPts val="0"/>
              </a:spcAft>
              <a:buNone/>
            </a:pPr>
            <a:r>
              <a:rPr lang="es-MX" sz="3300" b="1">
                <a:solidFill>
                  <a:srgbClr val="3F3F3F"/>
                </a:solidFill>
                <a:latin typeface="Work Sans"/>
                <a:ea typeface="Work Sans"/>
                <a:cs typeface="Work Sans"/>
                <a:sym typeface="Work Sans"/>
              </a:rPr>
              <a:t>ZAAP</a:t>
            </a:r>
            <a:endParaRPr sz="3300" b="1">
              <a:solidFill>
                <a:srgbClr val="3F3F3F"/>
              </a:solidFill>
              <a:latin typeface="Work Sans"/>
              <a:ea typeface="Work Sans"/>
              <a:cs typeface="Work Sans"/>
              <a:sym typeface="Work Sans"/>
            </a:endParaRPr>
          </a:p>
        </p:txBody>
      </p:sp>
      <p:pic>
        <p:nvPicPr>
          <p:cNvPr id="102" name="Google Shape;102;p1"/>
          <p:cNvPicPr preferRelativeResize="0"/>
          <p:nvPr/>
        </p:nvPicPr>
        <p:blipFill>
          <a:blip r:embed="rId3">
            <a:alphaModFix/>
          </a:blip>
          <a:stretch>
            <a:fillRect/>
          </a:stretch>
        </p:blipFill>
        <p:spPr>
          <a:xfrm>
            <a:off x="6867000" y="1534075"/>
            <a:ext cx="3659550" cy="1245500"/>
          </a:xfrm>
          <a:prstGeom prst="rect">
            <a:avLst/>
          </a:prstGeom>
          <a:noFill/>
          <a:ln>
            <a:noFill/>
          </a:ln>
        </p:spPr>
      </p:pic>
      <p:pic>
        <p:nvPicPr>
          <p:cNvPr id="103" name="Google Shape;103;p1"/>
          <p:cNvPicPr preferRelativeResize="0"/>
          <p:nvPr/>
        </p:nvPicPr>
        <p:blipFill rotWithShape="1">
          <a:blip r:embed="rId4">
            <a:alphaModFix/>
          </a:blip>
          <a:srcRect t="1341"/>
          <a:stretch/>
        </p:blipFill>
        <p:spPr>
          <a:xfrm>
            <a:off x="7136463" y="3117075"/>
            <a:ext cx="3120626" cy="2736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
          <p:cNvSpPr txBox="1"/>
          <p:nvPr/>
        </p:nvSpPr>
        <p:spPr>
          <a:xfrm>
            <a:off x="3302712" y="1847968"/>
            <a:ext cx="5687700" cy="1092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6500" b="1">
                <a:solidFill>
                  <a:schemeClr val="lt1"/>
                </a:solidFill>
                <a:latin typeface="Work Sans"/>
                <a:ea typeface="Work Sans"/>
                <a:cs typeface="Work Sans"/>
                <a:sym typeface="Work Sans"/>
              </a:rPr>
              <a:t>ZAAP</a:t>
            </a:r>
            <a:endParaRPr b="1"/>
          </a:p>
        </p:txBody>
      </p:sp>
      <p:cxnSp>
        <p:nvCxnSpPr>
          <p:cNvPr id="109" name="Google Shape;109;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10" name="Google Shape;110;p2"/>
          <p:cNvSpPr txBox="1"/>
          <p:nvPr/>
        </p:nvSpPr>
        <p:spPr>
          <a:xfrm>
            <a:off x="4168816" y="3463724"/>
            <a:ext cx="3854400" cy="58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Paula Andrea Forero Borda</a:t>
            </a:r>
            <a:endParaRPr sz="1600">
              <a:solidFill>
                <a:schemeClr val="lt1"/>
              </a:solidFill>
              <a:latin typeface="Work Sans Light"/>
              <a:ea typeface="Work Sans Light"/>
              <a:cs typeface="Work Sans Light"/>
              <a:sym typeface="Work Sans Light"/>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Jhonatan Alexander Pastuso Lozada</a:t>
            </a:r>
            <a:endParaRPr sz="1600">
              <a:solidFill>
                <a:schemeClr val="lt1"/>
              </a:solidFill>
              <a:latin typeface="Work Sans Light"/>
              <a:ea typeface="Work Sans Light"/>
              <a:cs typeface="Work Sans Light"/>
              <a:sym typeface="Work Sans Light"/>
            </a:endParaRPr>
          </a:p>
        </p:txBody>
      </p:sp>
      <p:sp>
        <p:nvSpPr>
          <p:cNvPr id="111" name="Google Shape;111;p2"/>
          <p:cNvSpPr txBox="1"/>
          <p:nvPr/>
        </p:nvSpPr>
        <p:spPr>
          <a:xfrm>
            <a:off x="1068888" y="5279998"/>
            <a:ext cx="1005422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Técnico en Programación de Software - TPS, Primer Trimestre</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Instructor Albeiro Ramos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Bogotá, 25 de marzo de 2023</a:t>
            </a:r>
            <a:endParaRPr sz="1600" b="1">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p3"/>
          <p:cNvSpPr/>
          <p:nvPr/>
        </p:nvSpPr>
        <p:spPr>
          <a:xfrm>
            <a:off x="1174343" y="989802"/>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3"/>
          <p:cNvSpPr txBox="1"/>
          <p:nvPr/>
        </p:nvSpPr>
        <p:spPr>
          <a:xfrm>
            <a:off x="1199395" y="698024"/>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18" name="Google Shape;118;p3"/>
          <p:cNvSpPr txBox="1"/>
          <p:nvPr/>
        </p:nvSpPr>
        <p:spPr>
          <a:xfrm>
            <a:off x="1162771" y="1580110"/>
            <a:ext cx="3854400" cy="44823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1200"/>
              </a:spcBef>
              <a:spcAft>
                <a:spcPts val="0"/>
              </a:spcAft>
              <a:buSzPts val="1100"/>
              <a:buNone/>
            </a:pPr>
            <a:r>
              <a:rPr lang="es-MX" sz="1600">
                <a:solidFill>
                  <a:schemeClr val="dk1"/>
                </a:solidFill>
                <a:latin typeface="Work Sans Light"/>
                <a:ea typeface="Work Sans Light"/>
                <a:cs typeface="Work Sans Light"/>
                <a:sym typeface="Work Sans Light"/>
              </a:rPr>
              <a:t>Este proyecto surge como respuesta a la necesidad de digitalizar los procesos de la Fundación Animalista IKIGAI en Bogotá dedicada al rescate y protección de animales de la calle.</a:t>
            </a:r>
            <a:endParaRPr sz="1600">
              <a:solidFill>
                <a:schemeClr val="dk1"/>
              </a:solidFill>
              <a:latin typeface="Work Sans Light"/>
              <a:ea typeface="Work Sans Light"/>
              <a:cs typeface="Work Sans Light"/>
              <a:sym typeface="Work Sans Light"/>
            </a:endParaRPr>
          </a:p>
          <a:p>
            <a:pPr marL="0" lvl="0" indent="0" algn="just" rtl="0">
              <a:lnSpc>
                <a:spcPct val="115000"/>
              </a:lnSpc>
              <a:spcBef>
                <a:spcPts val="1200"/>
              </a:spcBef>
              <a:spcAft>
                <a:spcPts val="0"/>
              </a:spcAft>
              <a:buSzPts val="1100"/>
              <a:buNone/>
            </a:pPr>
            <a:r>
              <a:rPr lang="es-MX" sz="1600">
                <a:solidFill>
                  <a:schemeClr val="dk1"/>
                </a:solidFill>
                <a:latin typeface="Work Sans Light"/>
                <a:ea typeface="Work Sans Light"/>
                <a:cs typeface="Work Sans Light"/>
                <a:sym typeface="Work Sans Light"/>
              </a:rPr>
              <a:t>Actualmente, la gestión se realiza de forma manual, lo que dificulta el control de rescates, adopciones, voluntariado y donaciones.</a:t>
            </a:r>
            <a:endParaRPr sz="1600">
              <a:solidFill>
                <a:schemeClr val="dk1"/>
              </a:solidFill>
              <a:latin typeface="Work Sans Light"/>
              <a:ea typeface="Work Sans Light"/>
              <a:cs typeface="Work Sans Light"/>
              <a:sym typeface="Work Sans Light"/>
            </a:endParaRPr>
          </a:p>
          <a:p>
            <a:pPr marL="0" lvl="0" indent="0" algn="just" rtl="0">
              <a:lnSpc>
                <a:spcPct val="115000"/>
              </a:lnSpc>
              <a:spcBef>
                <a:spcPts val="1200"/>
              </a:spcBef>
              <a:spcAft>
                <a:spcPts val="0"/>
              </a:spcAft>
              <a:buClr>
                <a:schemeClr val="dk1"/>
              </a:buClr>
              <a:buSzPts val="1100"/>
              <a:buFont typeface="Arial"/>
              <a:buNone/>
            </a:pPr>
            <a:r>
              <a:rPr lang="es-MX" sz="1600">
                <a:solidFill>
                  <a:schemeClr val="dk1"/>
                </a:solidFill>
                <a:latin typeface="Work Sans Light"/>
                <a:ea typeface="Work Sans Light"/>
                <a:cs typeface="Work Sans Light"/>
                <a:sym typeface="Work Sans Light"/>
              </a:rPr>
              <a:t>Esta presentación expone el problema identificado, los objetivos, la justificación, el alcance y la delimitación del sistema.</a:t>
            </a:r>
            <a:endParaRPr sz="1600">
              <a:solidFill>
                <a:schemeClr val="dk1"/>
              </a:solidFill>
              <a:latin typeface="Work Sans Light"/>
              <a:ea typeface="Work Sans Light"/>
              <a:cs typeface="Work Sans Light"/>
              <a:sym typeface="Work Sans Light"/>
            </a:endParaRPr>
          </a:p>
          <a:p>
            <a:pPr marL="0" marR="0" lvl="0" indent="0" algn="l" rtl="0">
              <a:spcBef>
                <a:spcPts val="1200"/>
              </a:spcBef>
              <a:spcAft>
                <a:spcPts val="0"/>
              </a:spcAft>
              <a:buNone/>
            </a:pPr>
            <a:endParaRPr sz="1600">
              <a:solidFill>
                <a:schemeClr val="dk1"/>
              </a:solidFill>
              <a:latin typeface="Work Sans Light"/>
              <a:ea typeface="Work Sans Light"/>
              <a:cs typeface="Work Sans Light"/>
              <a:sym typeface="Work Sans Light"/>
            </a:endParaRPr>
          </a:p>
        </p:txBody>
      </p:sp>
      <p:pic>
        <p:nvPicPr>
          <p:cNvPr id="119" name="Google Shape;119;p3"/>
          <p:cNvPicPr preferRelativeResize="0"/>
          <p:nvPr/>
        </p:nvPicPr>
        <p:blipFill>
          <a:blip r:embed="rId4">
            <a:alphaModFix/>
          </a:blip>
          <a:stretch>
            <a:fillRect/>
          </a:stretch>
        </p:blipFill>
        <p:spPr>
          <a:xfrm>
            <a:off x="5566025" y="1714975"/>
            <a:ext cx="5823750" cy="3793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p4"/>
          <p:cNvSpPr txBox="1"/>
          <p:nvPr/>
        </p:nvSpPr>
        <p:spPr>
          <a:xfrm>
            <a:off x="456236" y="416689"/>
            <a:ext cx="10515600"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Nombre del Proyecto</a:t>
            </a:r>
            <a:endParaRPr/>
          </a:p>
        </p:txBody>
      </p:sp>
      <p:sp>
        <p:nvSpPr>
          <p:cNvPr id="125" name="Google Shape;125;p4"/>
          <p:cNvSpPr txBox="1"/>
          <p:nvPr/>
        </p:nvSpPr>
        <p:spPr>
          <a:xfrm>
            <a:off x="6653025" y="2489550"/>
            <a:ext cx="45474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Problema</a:t>
            </a:r>
            <a:endParaRPr b="1"/>
          </a:p>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Objetivos</a:t>
            </a:r>
            <a:endParaRPr b="1"/>
          </a:p>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Justificación</a:t>
            </a:r>
            <a:endParaRPr b="1"/>
          </a:p>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Alcance</a:t>
            </a:r>
            <a:endParaRPr b="1"/>
          </a:p>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Delimitación</a:t>
            </a:r>
            <a:endParaRPr b="1"/>
          </a:p>
          <a:p>
            <a:pPr marL="0" marR="0" lvl="0" indent="0" algn="l" rtl="0">
              <a:spcBef>
                <a:spcPts val="0"/>
              </a:spcBef>
              <a:spcAft>
                <a:spcPts val="0"/>
              </a:spcAft>
              <a:buNone/>
            </a:pPr>
            <a:r>
              <a:rPr lang="es-MX" sz="3200" b="1">
                <a:solidFill>
                  <a:schemeClr val="dk1"/>
                </a:solidFill>
                <a:latin typeface="Work Sans"/>
                <a:ea typeface="Work Sans"/>
                <a:cs typeface="Work Sans"/>
                <a:sym typeface="Work Sans"/>
              </a:rPr>
              <a:t>Entregables Trimestre</a:t>
            </a:r>
            <a:endParaRPr b="1"/>
          </a:p>
        </p:txBody>
      </p:sp>
      <p:pic>
        <p:nvPicPr>
          <p:cNvPr id="126" name="Google Shape;126;p4"/>
          <p:cNvPicPr preferRelativeResize="0"/>
          <p:nvPr/>
        </p:nvPicPr>
        <p:blipFill rotWithShape="1">
          <a:blip r:embed="rId4">
            <a:alphaModFix/>
          </a:blip>
          <a:srcRect t="1341"/>
          <a:stretch/>
        </p:blipFill>
        <p:spPr>
          <a:xfrm>
            <a:off x="1940238" y="3309713"/>
            <a:ext cx="3120626" cy="2736550"/>
          </a:xfrm>
          <a:prstGeom prst="rect">
            <a:avLst/>
          </a:prstGeom>
          <a:noFill/>
          <a:ln>
            <a:noFill/>
          </a:ln>
        </p:spPr>
      </p:pic>
      <p:pic>
        <p:nvPicPr>
          <p:cNvPr id="127" name="Google Shape;127;p4"/>
          <p:cNvPicPr preferRelativeResize="0"/>
          <p:nvPr/>
        </p:nvPicPr>
        <p:blipFill>
          <a:blip r:embed="rId5">
            <a:alphaModFix/>
          </a:blip>
          <a:stretch>
            <a:fillRect/>
          </a:stretch>
        </p:blipFill>
        <p:spPr>
          <a:xfrm>
            <a:off x="1443025" y="1445627"/>
            <a:ext cx="3819525" cy="1362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33" name="Google Shape;133;p5"/>
          <p:cNvSpPr txBox="1"/>
          <p:nvPr/>
        </p:nvSpPr>
        <p:spPr>
          <a:xfrm>
            <a:off x="372303" y="2342346"/>
            <a:ext cx="11447400" cy="3694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La fundación de protección animal en Bogotá enfrenta problemas de:</a:t>
            </a:r>
            <a:endParaRPr sz="1600" dirty="0">
              <a:solidFill>
                <a:schemeClr val="dk1"/>
              </a:solidFill>
              <a:latin typeface="Work Sans Light"/>
              <a:ea typeface="Work Sans Light"/>
              <a:cs typeface="Work Sans Light"/>
              <a:sym typeface="Work Sans Light"/>
            </a:endParaRPr>
          </a:p>
          <a:p>
            <a:pPr marL="457200" lvl="0" indent="-298450" algn="l" rtl="0">
              <a:lnSpc>
                <a:spcPct val="115000"/>
              </a:lnSpc>
              <a:spcBef>
                <a:spcPts val="1200"/>
              </a:spcBef>
              <a:spcAft>
                <a:spcPts val="0"/>
              </a:spcAft>
              <a:buClr>
                <a:schemeClr val="dk1"/>
              </a:buClr>
              <a:buSzPts val="1100"/>
              <a:buChar char="●"/>
            </a:pPr>
            <a:r>
              <a:rPr lang="es-MX" sz="1600" dirty="0">
                <a:solidFill>
                  <a:schemeClr val="dk1"/>
                </a:solidFill>
                <a:latin typeface="Work Sans Light"/>
                <a:ea typeface="Work Sans Light"/>
                <a:cs typeface="Work Sans Light"/>
                <a:sym typeface="Work Sans Light"/>
              </a:rPr>
              <a:t>Gestión manual de procesos de rescate y adopción.</a:t>
            </a:r>
            <a:br>
              <a:rPr lang="es-MX" sz="1600" dirty="0">
                <a:solidFill>
                  <a:schemeClr val="dk1"/>
                </a:solidFill>
                <a:latin typeface="Work Sans Light"/>
                <a:ea typeface="Work Sans Light"/>
                <a:cs typeface="Work Sans Light"/>
                <a:sym typeface="Work Sans Light"/>
              </a:rPr>
            </a:br>
            <a:endParaRPr sz="1600" dirty="0">
              <a:solidFill>
                <a:schemeClr val="dk1"/>
              </a:solidFill>
              <a:latin typeface="Work Sans Light"/>
              <a:ea typeface="Work Sans Light"/>
              <a:cs typeface="Work Sans Light"/>
              <a:sym typeface="Work Sans Light"/>
            </a:endParaRPr>
          </a:p>
          <a:p>
            <a:pPr marL="457200" lvl="0" indent="-298450" algn="l" rtl="0">
              <a:lnSpc>
                <a:spcPct val="115000"/>
              </a:lnSpc>
              <a:spcBef>
                <a:spcPts val="0"/>
              </a:spcBef>
              <a:spcAft>
                <a:spcPts val="0"/>
              </a:spcAft>
              <a:buClr>
                <a:schemeClr val="dk1"/>
              </a:buClr>
              <a:buSzPts val="1100"/>
              <a:buChar char="●"/>
            </a:pPr>
            <a:r>
              <a:rPr lang="es-MX" sz="1600" dirty="0">
                <a:solidFill>
                  <a:schemeClr val="dk1"/>
                </a:solidFill>
                <a:latin typeface="Work Sans Light"/>
                <a:ea typeface="Work Sans Light"/>
                <a:cs typeface="Work Sans Light"/>
                <a:sym typeface="Work Sans Light"/>
              </a:rPr>
              <a:t>Dificultad para organizar voluntariado, ocasionalmente sin organización de la misma.</a:t>
            </a:r>
            <a:br>
              <a:rPr lang="es-MX" sz="1600" dirty="0">
                <a:solidFill>
                  <a:schemeClr val="dk1"/>
                </a:solidFill>
                <a:latin typeface="Work Sans Light"/>
                <a:ea typeface="Work Sans Light"/>
                <a:cs typeface="Work Sans Light"/>
                <a:sym typeface="Work Sans Light"/>
              </a:rPr>
            </a:br>
            <a:endParaRPr sz="1600" dirty="0">
              <a:solidFill>
                <a:schemeClr val="dk1"/>
              </a:solidFill>
              <a:latin typeface="Work Sans Light"/>
              <a:ea typeface="Work Sans Light"/>
              <a:cs typeface="Work Sans Light"/>
              <a:sym typeface="Work Sans Light"/>
            </a:endParaRPr>
          </a:p>
          <a:p>
            <a:pPr marL="457200" lvl="0" indent="-298450" algn="l" rtl="0">
              <a:lnSpc>
                <a:spcPct val="115000"/>
              </a:lnSpc>
              <a:spcBef>
                <a:spcPts val="0"/>
              </a:spcBef>
              <a:spcAft>
                <a:spcPts val="0"/>
              </a:spcAft>
              <a:buClr>
                <a:schemeClr val="dk1"/>
              </a:buClr>
              <a:buSzPts val="1100"/>
              <a:buChar char="●"/>
            </a:pPr>
            <a:r>
              <a:rPr lang="es-MX" sz="1600" dirty="0">
                <a:solidFill>
                  <a:schemeClr val="dk1"/>
                </a:solidFill>
                <a:latin typeface="Work Sans Light"/>
                <a:ea typeface="Work Sans Light"/>
                <a:cs typeface="Work Sans Light"/>
                <a:sym typeface="Work Sans Light"/>
              </a:rPr>
              <a:t>Dificultad en la creación de campañas de donaciones, y sin seguimiento para que los donantes puedan visualizar los avances de sus donaciones.</a:t>
            </a:r>
            <a:br>
              <a:rPr lang="es-MX" sz="1600" dirty="0">
                <a:solidFill>
                  <a:schemeClr val="dk1"/>
                </a:solidFill>
                <a:latin typeface="Work Sans Light"/>
                <a:ea typeface="Work Sans Light"/>
                <a:cs typeface="Work Sans Light"/>
                <a:sym typeface="Work Sans Light"/>
              </a:rPr>
            </a:br>
            <a:endParaRPr sz="1600" dirty="0">
              <a:solidFill>
                <a:schemeClr val="dk1"/>
              </a:solidFill>
              <a:latin typeface="Work Sans Light"/>
              <a:ea typeface="Work Sans Light"/>
              <a:cs typeface="Work Sans Light"/>
              <a:sym typeface="Work Sans Light"/>
            </a:endParaRPr>
          </a:p>
          <a:p>
            <a:pPr marL="457200" lvl="0" indent="-298450" algn="l" rtl="0">
              <a:lnSpc>
                <a:spcPct val="115000"/>
              </a:lnSpc>
              <a:spcBef>
                <a:spcPts val="0"/>
              </a:spcBef>
              <a:spcAft>
                <a:spcPts val="0"/>
              </a:spcAft>
              <a:buClr>
                <a:schemeClr val="dk1"/>
              </a:buClr>
              <a:buSzPts val="1100"/>
              <a:buChar char="●"/>
            </a:pPr>
            <a:r>
              <a:rPr lang="es-MX" sz="1600" dirty="0">
                <a:solidFill>
                  <a:schemeClr val="dk1"/>
                </a:solidFill>
                <a:latin typeface="Work Sans Light"/>
                <a:ea typeface="Work Sans Light"/>
                <a:cs typeface="Work Sans Light"/>
                <a:sym typeface="Work Sans Light"/>
              </a:rPr>
              <a:t>Baja participación ciudadana por falta de herramientas tecnológicas, esto genera pérdida de información, retrasos en procesos y menor impacto social.</a:t>
            </a:r>
            <a:endParaRPr sz="1600" dirty="0">
              <a:solidFill>
                <a:schemeClr val="dk1"/>
              </a:solidFill>
              <a:latin typeface="Work Sans Light"/>
              <a:ea typeface="Work Sans Light"/>
              <a:cs typeface="Work Sans Light"/>
              <a:sym typeface="Work Sans Light"/>
            </a:endParaRPr>
          </a:p>
          <a:p>
            <a:pPr marL="0" marR="0" lvl="0" indent="0" algn="l" rtl="0">
              <a:spcBef>
                <a:spcPts val="120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dirty="0"/>
          </a:p>
        </p:txBody>
      </p:sp>
      <p:pic>
        <p:nvPicPr>
          <p:cNvPr id="134" name="Google Shape;134;p5"/>
          <p:cNvPicPr preferRelativeResize="0"/>
          <p:nvPr/>
        </p:nvPicPr>
        <p:blipFill>
          <a:blip r:embed="rId3">
            <a:alphaModFix/>
          </a:blip>
          <a:stretch>
            <a:fillRect/>
          </a:stretch>
        </p:blipFill>
        <p:spPr>
          <a:xfrm>
            <a:off x="8083679" y="219200"/>
            <a:ext cx="2763400" cy="110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p:nvPr/>
        </p:nvSpPr>
        <p:spPr>
          <a:xfrm>
            <a:off x="1314043" y="593940"/>
            <a:ext cx="3527266"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7"/>
          <p:cNvSpPr txBox="1"/>
          <p:nvPr/>
        </p:nvSpPr>
        <p:spPr>
          <a:xfrm>
            <a:off x="1039184" y="310961"/>
            <a:ext cx="4076985" cy="67659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General</a:t>
            </a:r>
            <a:endParaRPr/>
          </a:p>
        </p:txBody>
      </p:sp>
      <p:sp>
        <p:nvSpPr>
          <p:cNvPr id="141" name="Google Shape;141;p7"/>
          <p:cNvSpPr txBox="1"/>
          <p:nvPr/>
        </p:nvSpPr>
        <p:spPr>
          <a:xfrm>
            <a:off x="556218" y="1286827"/>
            <a:ext cx="5043000"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Desarrollar una plataforma web que optimice la gestión de procesos de adopción, donaciones, voluntariado, alertas ciudadanas de rescate y la organización de campañas de la fundación IKIGAI</a:t>
            </a:r>
            <a:endParaRPr sz="1600" dirty="0">
              <a:solidFill>
                <a:schemeClr val="dk1"/>
              </a:solidFill>
              <a:latin typeface="Work Sans Light"/>
              <a:ea typeface="Work Sans Light"/>
              <a:cs typeface="Work Sans Light"/>
              <a:sym typeface="Work Sans Light"/>
            </a:endParaRPr>
          </a:p>
        </p:txBody>
      </p:sp>
      <p:sp>
        <p:nvSpPr>
          <p:cNvPr id="142" name="Google Shape;142;p7"/>
          <p:cNvSpPr/>
          <p:nvPr/>
        </p:nvSpPr>
        <p:spPr>
          <a:xfrm>
            <a:off x="484946" y="3146130"/>
            <a:ext cx="4166093"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7"/>
          <p:cNvSpPr txBox="1"/>
          <p:nvPr/>
        </p:nvSpPr>
        <p:spPr>
          <a:xfrm>
            <a:off x="574055" y="2888203"/>
            <a:ext cx="4076985"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144" name="Google Shape;144;p7"/>
          <p:cNvSpPr txBox="1"/>
          <p:nvPr/>
        </p:nvSpPr>
        <p:spPr>
          <a:xfrm>
            <a:off x="574055" y="3564801"/>
            <a:ext cx="4834800" cy="2299051"/>
          </a:xfrm>
          <a:prstGeom prst="rect">
            <a:avLst/>
          </a:prstGeom>
          <a:noFill/>
          <a:ln>
            <a:noFill/>
          </a:ln>
        </p:spPr>
        <p:txBody>
          <a:bodyPr spcFirstLastPara="1" wrap="square" lIns="91425" tIns="45700" rIns="91425" bIns="45700" anchor="t" anchorCtr="0">
            <a:spAutoFit/>
          </a:bodyPr>
          <a:lstStyle/>
          <a:p>
            <a:pPr marL="457200" lvl="0" indent="-330200" algn="l" rtl="0">
              <a:lnSpc>
                <a:spcPct val="115000"/>
              </a:lnSpc>
              <a:spcBef>
                <a:spcPts val="1200"/>
              </a:spcBef>
              <a:spcAft>
                <a:spcPts val="0"/>
              </a:spcAft>
              <a:buClr>
                <a:schemeClr val="dk1"/>
              </a:buClr>
              <a:buSzPts val="1600"/>
              <a:buFont typeface="Work Sans Light"/>
              <a:buChar char="•"/>
            </a:pPr>
            <a:r>
              <a:rPr lang="es-MX" dirty="0">
                <a:solidFill>
                  <a:schemeClr val="dk1"/>
                </a:solidFill>
                <a:latin typeface="Work Sans Light"/>
                <a:ea typeface="Work Sans Light"/>
                <a:cs typeface="Work Sans Light"/>
                <a:sym typeface="Work Sans Light"/>
              </a:rPr>
              <a:t>Gestionar los usuarios de la fundación IKIGAI.</a:t>
            </a:r>
            <a:endParaRPr dirty="0">
              <a:solidFill>
                <a:schemeClr val="dk1"/>
              </a:solidFill>
              <a:latin typeface="Work Sans Light"/>
              <a:ea typeface="Work Sans Light"/>
              <a:cs typeface="Work Sans Light"/>
              <a:sym typeface="Work Sans Light"/>
            </a:endParaRPr>
          </a:p>
          <a:p>
            <a:pPr marL="457200" lvl="0" indent="-330200">
              <a:lnSpc>
                <a:spcPct val="115000"/>
              </a:lnSpc>
              <a:buClr>
                <a:schemeClr val="dk1"/>
              </a:buClr>
              <a:buSzPts val="1600"/>
              <a:buFont typeface="Work Sans Light"/>
              <a:buChar char="•"/>
            </a:pPr>
            <a:r>
              <a:rPr lang="es-MX" dirty="0">
                <a:solidFill>
                  <a:schemeClr val="dk1"/>
                </a:solidFill>
                <a:latin typeface="Work Sans Light"/>
                <a:ea typeface="Work Sans Light"/>
                <a:cs typeface="Work Sans Light"/>
                <a:sym typeface="Work Sans Light"/>
              </a:rPr>
              <a:t>Gestionar los procesos de rescate de animales de la fundación IKIGAI..</a:t>
            </a:r>
            <a:endParaRPr dirty="0">
              <a:solidFill>
                <a:schemeClr val="dk1"/>
              </a:solidFill>
              <a:latin typeface="Work Sans Light"/>
              <a:ea typeface="Work Sans Light"/>
              <a:cs typeface="Work Sans Light"/>
              <a:sym typeface="Work Sans Light"/>
            </a:endParaRPr>
          </a:p>
          <a:p>
            <a:pPr marL="457200" lvl="0" indent="-330200">
              <a:lnSpc>
                <a:spcPct val="115000"/>
              </a:lnSpc>
              <a:buClr>
                <a:schemeClr val="dk1"/>
              </a:buClr>
              <a:buSzPts val="1600"/>
              <a:buFont typeface="Work Sans Light"/>
              <a:buChar char="•"/>
            </a:pPr>
            <a:r>
              <a:rPr lang="es-MX" dirty="0">
                <a:solidFill>
                  <a:schemeClr val="dk1"/>
                </a:solidFill>
                <a:latin typeface="Work Sans Light"/>
                <a:ea typeface="Work Sans Light"/>
                <a:cs typeface="Work Sans Light"/>
                <a:sym typeface="Work Sans Light"/>
              </a:rPr>
              <a:t>Gestionar las adopciones de animales de la fundación IKIGAI.</a:t>
            </a:r>
            <a:endParaRPr dirty="0">
              <a:solidFill>
                <a:schemeClr val="dk1"/>
              </a:solidFill>
              <a:latin typeface="Work Sans Light"/>
              <a:ea typeface="Work Sans Light"/>
              <a:cs typeface="Work Sans Light"/>
              <a:sym typeface="Work Sans Light"/>
            </a:endParaRPr>
          </a:p>
          <a:p>
            <a:pPr marL="457200" lvl="0" indent="-330200">
              <a:lnSpc>
                <a:spcPct val="115000"/>
              </a:lnSpc>
              <a:buClr>
                <a:schemeClr val="dk1"/>
              </a:buClr>
              <a:buSzPts val="1600"/>
              <a:buFont typeface="Work Sans Light"/>
              <a:buChar char="•"/>
            </a:pPr>
            <a:r>
              <a:rPr lang="es-MX" dirty="0">
                <a:solidFill>
                  <a:schemeClr val="dk1"/>
                </a:solidFill>
                <a:latin typeface="Work Sans Light"/>
                <a:ea typeface="Work Sans Light"/>
                <a:cs typeface="Work Sans Light"/>
                <a:sym typeface="Work Sans Light"/>
              </a:rPr>
              <a:t>Gestionar el voluntariado de la fundación IKIGAI..</a:t>
            </a:r>
            <a:endParaRPr dirty="0">
              <a:solidFill>
                <a:schemeClr val="dk1"/>
              </a:solidFill>
              <a:latin typeface="Work Sans Light"/>
              <a:ea typeface="Work Sans Light"/>
              <a:cs typeface="Work Sans Light"/>
              <a:sym typeface="Work Sans Light"/>
            </a:endParaRPr>
          </a:p>
          <a:p>
            <a:pPr marL="457200" lvl="0" indent="-330200">
              <a:lnSpc>
                <a:spcPct val="115000"/>
              </a:lnSpc>
              <a:buClr>
                <a:schemeClr val="dk1"/>
              </a:buClr>
              <a:buSzPts val="1600"/>
              <a:buFont typeface="Work Sans Light"/>
              <a:buChar char="•"/>
            </a:pPr>
            <a:r>
              <a:rPr lang="es-MX" dirty="0">
                <a:solidFill>
                  <a:schemeClr val="dk1"/>
                </a:solidFill>
                <a:latin typeface="Work Sans Light"/>
                <a:ea typeface="Work Sans Light"/>
                <a:cs typeface="Work Sans Light"/>
                <a:sym typeface="Work Sans Light"/>
              </a:rPr>
              <a:t>Gestionar reportes estadísticos y gráficos de la fundación IKIGAI.</a:t>
            </a:r>
            <a:endParaRPr dirty="0">
              <a:solidFill>
                <a:schemeClr val="dk1"/>
              </a:solidFill>
              <a:latin typeface="Work Sans Light"/>
              <a:ea typeface="Work Sans Light"/>
              <a:cs typeface="Work Sans Light"/>
              <a:sym typeface="Work Sans Light"/>
            </a:endParaRPr>
          </a:p>
        </p:txBody>
      </p:sp>
      <p:pic>
        <p:nvPicPr>
          <p:cNvPr id="145" name="Google Shape;145;p7"/>
          <p:cNvPicPr preferRelativeResize="0"/>
          <p:nvPr/>
        </p:nvPicPr>
        <p:blipFill>
          <a:blip r:embed="rId3">
            <a:alphaModFix/>
          </a:blip>
          <a:stretch>
            <a:fillRect/>
          </a:stretch>
        </p:blipFill>
        <p:spPr>
          <a:xfrm>
            <a:off x="5736537" y="725927"/>
            <a:ext cx="3592214" cy="2394825"/>
          </a:xfrm>
          <a:prstGeom prst="rect">
            <a:avLst/>
          </a:prstGeom>
          <a:noFill/>
          <a:ln>
            <a:noFill/>
          </a:ln>
        </p:spPr>
      </p:pic>
      <p:pic>
        <p:nvPicPr>
          <p:cNvPr id="146" name="Google Shape;146;p7"/>
          <p:cNvPicPr preferRelativeResize="0"/>
          <p:nvPr/>
        </p:nvPicPr>
        <p:blipFill>
          <a:blip r:embed="rId4">
            <a:alphaModFix/>
          </a:blip>
          <a:stretch>
            <a:fillRect/>
          </a:stretch>
        </p:blipFill>
        <p:spPr>
          <a:xfrm>
            <a:off x="9381575" y="2157490"/>
            <a:ext cx="2577600" cy="2577600"/>
          </a:xfrm>
          <a:prstGeom prst="rect">
            <a:avLst/>
          </a:prstGeom>
          <a:noFill/>
          <a:ln>
            <a:noFill/>
          </a:ln>
        </p:spPr>
      </p:pic>
      <p:pic>
        <p:nvPicPr>
          <p:cNvPr id="147" name="Google Shape;147;p7"/>
          <p:cNvPicPr preferRelativeResize="0"/>
          <p:nvPr/>
        </p:nvPicPr>
        <p:blipFill>
          <a:blip r:embed="rId5">
            <a:alphaModFix/>
          </a:blip>
          <a:stretch>
            <a:fillRect/>
          </a:stretch>
        </p:blipFill>
        <p:spPr>
          <a:xfrm>
            <a:off x="5711850" y="3273165"/>
            <a:ext cx="3592224" cy="2349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53" name="Google Shape;153;p8"/>
          <p:cNvSpPr txBox="1"/>
          <p:nvPr/>
        </p:nvSpPr>
        <p:spPr>
          <a:xfrm>
            <a:off x="372350" y="1667524"/>
            <a:ext cx="11447400" cy="4087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	Se propone el desarrollo de un software que funcione como una herramienta de apoyo que sistematice las gestiones como el rescate, adopción, voluntariado, donaciones y alertas ciudadanas de la fundación IKIGAI.</a:t>
            </a:r>
            <a:endParaRPr sz="1600" dirty="0">
              <a:solidFill>
                <a:schemeClr val="dk1"/>
              </a:solidFill>
              <a:latin typeface="Work Sans Light"/>
              <a:ea typeface="Work Sans Light"/>
              <a:cs typeface="Work Sans Light"/>
              <a:sym typeface="Work Sans Light"/>
            </a:endParaRPr>
          </a:p>
          <a:p>
            <a:pPr lvl="2">
              <a:lnSpc>
                <a:spcPct val="115000"/>
              </a:lnSpc>
              <a:spcBef>
                <a:spcPts val="1200"/>
              </a:spcBef>
              <a:buClr>
                <a:schemeClr val="dk1"/>
              </a:buClr>
              <a:buSzPts val="1100"/>
            </a:pPr>
            <a:r>
              <a:rPr lang="es-MX" sz="1600" dirty="0">
                <a:solidFill>
                  <a:schemeClr val="dk1"/>
                </a:solidFill>
                <a:latin typeface="Work Sans Light"/>
                <a:ea typeface="Work Sans Light"/>
                <a:cs typeface="Work Sans Light"/>
                <a:sym typeface="Work Sans Light"/>
              </a:rPr>
              <a:t>	Los diferentes perfiles de usuario (administrador, fundación, voluntario, donante y ciudadano), Tendrán accesibilidad a los siguientes módulos para permitir la facilidad en la sistematización: Módulo de reportes de animales, los ciudadanos podrán reportar casos y la fundación dará respuesta organizada. En el módulo de adopciones, los interesados podrán acceder a perfiles completos de animales y enviar solicitudes. Finalmente, la herramienta generará reportes gráficos e impresos para apoyar la transparencia y la toma de decisiones de la fundación.</a:t>
            </a:r>
            <a:endParaRPr sz="16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	El software ZAAP representa un aporte al sector social y de bienestar animal, ya que fortalece la capacidad tecnológica de la fundación, fomenta la participación ciudadana y promueve la transparencia en el uso de recursos y donaciones.</a:t>
            </a:r>
            <a:endParaRPr sz="1600" dirty="0">
              <a:solidFill>
                <a:schemeClr val="dk1"/>
              </a:solidFill>
              <a:latin typeface="Work Sans Light"/>
              <a:ea typeface="Work Sans Light"/>
              <a:cs typeface="Work Sans Light"/>
              <a:sym typeface="Work Sans Light"/>
            </a:endParaRPr>
          </a:p>
          <a:p>
            <a:pPr marL="0" marR="0" lvl="0" indent="0" algn="l" rtl="0">
              <a:spcBef>
                <a:spcPts val="1200"/>
              </a:spcBef>
              <a:spcAft>
                <a:spcPts val="0"/>
              </a:spcAft>
              <a:buNone/>
            </a:pPr>
            <a:endParaRPr sz="1600" dirty="0">
              <a:solidFill>
                <a:schemeClr val="dk1"/>
              </a:solidFill>
              <a:latin typeface="Work Sans Light"/>
              <a:ea typeface="Work Sans Light"/>
              <a:cs typeface="Work Sans Light"/>
              <a:sym typeface="Work Sans Light"/>
            </a:endParaRPr>
          </a:p>
          <a:p>
            <a:pPr marL="285750" marR="0" lvl="0" indent="-184150" algn="l" rtl="0">
              <a:spcBef>
                <a:spcPts val="0"/>
              </a:spcBef>
              <a:spcAft>
                <a:spcPts val="0"/>
              </a:spcAft>
              <a:buClr>
                <a:schemeClr val="dk1"/>
              </a:buClr>
              <a:buSzPts val="1600"/>
              <a:buFont typeface="Arial"/>
              <a:buNone/>
            </a:pPr>
            <a:endParaRPr sz="1600" b="1" dirty="0">
              <a:solidFill>
                <a:schemeClr val="dk1"/>
              </a:solidFill>
              <a:latin typeface="Work Sans Light"/>
              <a:ea typeface="Work Sans Light"/>
              <a:cs typeface="Work Sans Light"/>
              <a:sym typeface="Work Sans Light"/>
            </a:endParaRPr>
          </a:p>
        </p:txBody>
      </p:sp>
      <p:pic>
        <p:nvPicPr>
          <p:cNvPr id="154" name="Google Shape;154;p8"/>
          <p:cNvPicPr preferRelativeResize="0"/>
          <p:nvPr/>
        </p:nvPicPr>
        <p:blipFill>
          <a:blip r:embed="rId3">
            <a:alphaModFix/>
          </a:blip>
          <a:stretch>
            <a:fillRect/>
          </a:stretch>
        </p:blipFill>
        <p:spPr>
          <a:xfrm>
            <a:off x="8083679" y="219200"/>
            <a:ext cx="2763400" cy="1108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60" name="Google Shape;160;p10"/>
          <p:cNvSpPr txBox="1"/>
          <p:nvPr/>
        </p:nvSpPr>
        <p:spPr>
          <a:xfrm>
            <a:off x="456236" y="1544763"/>
            <a:ext cx="11447400" cy="47027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El software ZAAP permitirá a la fundación registrar animales rescatados, gestionar adopciones, organizar campañas y eventos, recibir y administrar donaciones, atender alertas ciudadanas y coordinar el voluntariado. Cada perfil de usuario tendrá acceso a funciones específicas según su rol, lo que facilita el uso y control del sistema.</a:t>
            </a:r>
            <a:endParaRPr sz="16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No cubrirá procesos médicos veterinarios ni la administración financiera detallada de la fundación, limitándose a la trazabilidad de las donaciones recibidas y su uso general.</a:t>
            </a:r>
            <a:endParaRPr sz="16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El proyecto arquitectónico será????????, lo que permitirá mantener y mejorar el sistema a futuro. Se utilizarán las siguientes tecnologías:</a:t>
            </a:r>
          </a:p>
          <a:p>
            <a:pPr marL="285750" lvl="0" indent="-285750">
              <a:lnSpc>
                <a:spcPct val="115000"/>
              </a:lnSpc>
              <a:spcBef>
                <a:spcPts val="1200"/>
              </a:spcBef>
              <a:buClr>
                <a:schemeClr val="dk1"/>
              </a:buClr>
              <a:buSzPts val="1100"/>
              <a:buFont typeface="Arial" panose="020B0604020202020204" pitchFamily="34" charset="0"/>
              <a:buChar char="•"/>
            </a:pPr>
            <a:r>
              <a:rPr lang="es-MX" sz="1600" dirty="0">
                <a:solidFill>
                  <a:schemeClr val="dk1"/>
                </a:solidFill>
                <a:latin typeface="Work Sans Light"/>
                <a:ea typeface="Work Sans Light"/>
                <a:cs typeface="Work Sans Light"/>
                <a:sym typeface="Work Sans Light"/>
              </a:rPr>
              <a:t>Base de datos: MySQL v_8.0</a:t>
            </a:r>
          </a:p>
          <a:p>
            <a:pPr marL="285750" lvl="0" indent="-285750">
              <a:lnSpc>
                <a:spcPct val="115000"/>
              </a:lnSpc>
              <a:spcBef>
                <a:spcPts val="1200"/>
              </a:spcBef>
              <a:buClr>
                <a:schemeClr val="dk1"/>
              </a:buClr>
              <a:buSzPts val="1100"/>
              <a:buFont typeface="Arial" panose="020B0604020202020204" pitchFamily="34" charset="0"/>
              <a:buChar char="•"/>
            </a:pPr>
            <a:r>
              <a:rPr lang="es-MX" sz="1600" dirty="0" err="1">
                <a:solidFill>
                  <a:schemeClr val="dk1"/>
                </a:solidFill>
                <a:latin typeface="Work Sans Light"/>
                <a:ea typeface="Work Sans Light"/>
                <a:cs typeface="Work Sans Light"/>
                <a:sym typeface="Work Sans Light"/>
              </a:rPr>
              <a:t>Backend</a:t>
            </a:r>
            <a:r>
              <a:rPr lang="es-MX" sz="1600" dirty="0">
                <a:solidFill>
                  <a:schemeClr val="dk1"/>
                </a:solidFill>
                <a:latin typeface="Work Sans Light"/>
                <a:ea typeface="Work Sans Light"/>
                <a:cs typeface="Work Sans Light"/>
                <a:sym typeface="Work Sans Light"/>
              </a:rPr>
              <a:t>: Python v_3.10 (Django v_4.2 LTS)</a:t>
            </a:r>
          </a:p>
          <a:p>
            <a:pPr marL="285750" lvl="0" indent="-285750" algn="l" rtl="0">
              <a:lnSpc>
                <a:spcPct val="115000"/>
              </a:lnSpc>
              <a:spcBef>
                <a:spcPts val="1200"/>
              </a:spcBef>
              <a:spcAft>
                <a:spcPts val="0"/>
              </a:spcAft>
              <a:buClr>
                <a:schemeClr val="dk1"/>
              </a:buClr>
              <a:buSzPts val="1100"/>
              <a:buFont typeface="Arial" panose="020B0604020202020204" pitchFamily="34" charset="0"/>
              <a:buChar char="•"/>
            </a:pPr>
            <a:r>
              <a:rPr lang="es-MX" sz="1600" dirty="0" err="1">
                <a:solidFill>
                  <a:schemeClr val="dk1"/>
                </a:solidFill>
                <a:latin typeface="Work Sans Light"/>
                <a:ea typeface="Work Sans Light"/>
                <a:cs typeface="Work Sans Light"/>
                <a:sym typeface="Work Sans Light"/>
              </a:rPr>
              <a:t>Frontend</a:t>
            </a:r>
            <a:r>
              <a:rPr lang="es-MX" sz="1600" dirty="0">
                <a:solidFill>
                  <a:schemeClr val="dk1"/>
                </a:solidFill>
                <a:latin typeface="Work Sans Light"/>
                <a:ea typeface="Work Sans Light"/>
                <a:cs typeface="Work Sans Light"/>
                <a:sym typeface="Work Sans Light"/>
              </a:rPr>
              <a:t>: HTML5, CSS3, JavaScript v_ES6 (con </a:t>
            </a:r>
            <a:r>
              <a:rPr lang="es-MX" sz="1600" dirty="0" err="1">
                <a:solidFill>
                  <a:schemeClr val="dk1"/>
                </a:solidFill>
                <a:latin typeface="Work Sans Light"/>
                <a:ea typeface="Work Sans Light"/>
                <a:cs typeface="Work Sans Light"/>
                <a:sym typeface="Work Sans Light"/>
              </a:rPr>
              <a:t>React</a:t>
            </a:r>
            <a:r>
              <a:rPr lang="es-MX" sz="1600" dirty="0">
                <a:solidFill>
                  <a:schemeClr val="dk1"/>
                </a:solidFill>
                <a:latin typeface="Work Sans Light"/>
                <a:ea typeface="Work Sans Light"/>
                <a:cs typeface="Work Sans Light"/>
                <a:sym typeface="Work Sans Light"/>
              </a:rPr>
              <a:t> v18.2)</a:t>
            </a:r>
          </a:p>
          <a:p>
            <a:pPr marL="285750" lvl="0" indent="-285750" algn="l" rtl="0">
              <a:lnSpc>
                <a:spcPct val="115000"/>
              </a:lnSpc>
              <a:spcBef>
                <a:spcPts val="1200"/>
              </a:spcBef>
              <a:spcAft>
                <a:spcPts val="0"/>
              </a:spcAft>
              <a:buClr>
                <a:schemeClr val="dk1"/>
              </a:buClr>
              <a:buSzPts val="1100"/>
              <a:buFont typeface="Arial" panose="020B0604020202020204" pitchFamily="34" charset="0"/>
              <a:buChar char="•"/>
            </a:pPr>
            <a:r>
              <a:rPr lang="es-MX" sz="1600" dirty="0">
                <a:solidFill>
                  <a:schemeClr val="dk1"/>
                </a:solidFill>
                <a:latin typeface="Work Sans Light"/>
                <a:ea typeface="Work Sans Light"/>
                <a:cs typeface="Work Sans Light"/>
                <a:sym typeface="Work Sans Light"/>
              </a:rPr>
              <a:t>Infraestructura: Google Cloud (servicios App </a:t>
            </a:r>
            <a:r>
              <a:rPr lang="es-MX" sz="1600" dirty="0" err="1">
                <a:solidFill>
                  <a:schemeClr val="dk1"/>
                </a:solidFill>
                <a:latin typeface="Work Sans Light"/>
                <a:ea typeface="Work Sans Light"/>
                <a:cs typeface="Work Sans Light"/>
                <a:sym typeface="Work Sans Light"/>
              </a:rPr>
              <a:t>Engine</a:t>
            </a:r>
            <a:r>
              <a:rPr lang="es-MX" sz="1600" dirty="0">
                <a:solidFill>
                  <a:schemeClr val="dk1"/>
                </a:solidFill>
                <a:latin typeface="Work Sans Light"/>
                <a:ea typeface="Work Sans Light"/>
                <a:cs typeface="Work Sans Light"/>
                <a:sym typeface="Work Sans Light"/>
              </a:rPr>
              <a:t>/Cloud Run para despliegue de aplicaciones, Cloud SQL para base de datos, y Cloud Storage para </a:t>
            </a:r>
            <a:r>
              <a:rPr lang="es-MX" sz="1600" dirty="0" err="1">
                <a:solidFill>
                  <a:schemeClr val="dk1"/>
                </a:solidFill>
                <a:latin typeface="Work Sans Light"/>
                <a:ea typeface="Work Sans Light"/>
                <a:cs typeface="Work Sans Light"/>
                <a:sym typeface="Work Sans Light"/>
              </a:rPr>
              <a:t>achivos</a:t>
            </a:r>
            <a:r>
              <a:rPr lang="es-MX" sz="1600" dirty="0">
                <a:solidFill>
                  <a:schemeClr val="dk1"/>
                </a:solidFill>
                <a:latin typeface="Work Sans Light"/>
                <a:ea typeface="Work Sans Light"/>
                <a:cs typeface="Work Sans Light"/>
                <a:sym typeface="Work Sans Light"/>
              </a:rPr>
              <a:t>/imágenes)</a:t>
            </a:r>
          </a:p>
          <a:p>
            <a:pPr marL="0" marR="0" lvl="0" indent="0" algn="l" rtl="0">
              <a:spcBef>
                <a:spcPts val="1200"/>
              </a:spcBef>
              <a:spcAft>
                <a:spcPts val="0"/>
              </a:spcAft>
              <a:buNone/>
            </a:pPr>
            <a:endParaRPr sz="1600" dirty="0">
              <a:solidFill>
                <a:schemeClr val="dk1"/>
              </a:solidFill>
              <a:latin typeface="Work Sans Light"/>
              <a:ea typeface="Work Sans Light"/>
              <a:cs typeface="Work Sans Light"/>
              <a:sym typeface="Work Sans Light"/>
            </a:endParaRPr>
          </a:p>
        </p:txBody>
      </p:sp>
      <p:pic>
        <p:nvPicPr>
          <p:cNvPr id="161" name="Google Shape;161;p10"/>
          <p:cNvPicPr preferRelativeResize="0"/>
          <p:nvPr/>
        </p:nvPicPr>
        <p:blipFill>
          <a:blip r:embed="rId3">
            <a:alphaModFix/>
          </a:blip>
          <a:stretch>
            <a:fillRect/>
          </a:stretch>
        </p:blipFill>
        <p:spPr>
          <a:xfrm>
            <a:off x="8083679" y="219200"/>
            <a:ext cx="2763400" cy="110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31485BE-CDCD-E636-F936-E72610622FCC}"/>
            </a:ext>
          </a:extLst>
        </p:cNvPr>
        <p:cNvGrpSpPr/>
        <p:nvPr/>
      </p:nvGrpSpPr>
      <p:grpSpPr>
        <a:xfrm>
          <a:off x="0" y="0"/>
          <a:ext cx="0" cy="0"/>
          <a:chOff x="0" y="0"/>
          <a:chExt cx="0" cy="0"/>
        </a:xfrm>
      </p:grpSpPr>
      <p:sp>
        <p:nvSpPr>
          <p:cNvPr id="159" name="Google Shape;159;p10">
            <a:extLst>
              <a:ext uri="{FF2B5EF4-FFF2-40B4-BE49-F238E27FC236}">
                <a16:creationId xmlns:a16="http://schemas.microsoft.com/office/drawing/2014/main" id="{27AE52A3-A52E-1383-CFC1-4019550A02CA}"/>
              </a:ext>
            </a:extLst>
          </p:cNvPr>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Delimitación</a:t>
            </a:r>
            <a:endParaRPr dirty="0"/>
          </a:p>
        </p:txBody>
      </p:sp>
      <p:pic>
        <p:nvPicPr>
          <p:cNvPr id="161" name="Google Shape;161;p10">
            <a:extLst>
              <a:ext uri="{FF2B5EF4-FFF2-40B4-BE49-F238E27FC236}">
                <a16:creationId xmlns:a16="http://schemas.microsoft.com/office/drawing/2014/main" id="{B16325A8-B8DC-18C6-17D9-245B5981FC71}"/>
              </a:ext>
            </a:extLst>
          </p:cNvPr>
          <p:cNvPicPr preferRelativeResize="0"/>
          <p:nvPr/>
        </p:nvPicPr>
        <p:blipFill>
          <a:blip r:embed="rId3">
            <a:alphaModFix/>
          </a:blip>
          <a:stretch>
            <a:fillRect/>
          </a:stretch>
        </p:blipFill>
        <p:spPr>
          <a:xfrm>
            <a:off x="8083679" y="219200"/>
            <a:ext cx="2763400" cy="1108125"/>
          </a:xfrm>
          <a:prstGeom prst="rect">
            <a:avLst/>
          </a:prstGeom>
          <a:noFill/>
          <a:ln>
            <a:noFill/>
          </a:ln>
        </p:spPr>
      </p:pic>
      <p:sp>
        <p:nvSpPr>
          <p:cNvPr id="2" name="Google Shape;160;p10">
            <a:extLst>
              <a:ext uri="{FF2B5EF4-FFF2-40B4-BE49-F238E27FC236}">
                <a16:creationId xmlns:a16="http://schemas.microsoft.com/office/drawing/2014/main" id="{7CB3587D-BAE0-A831-E593-A5400F9E2C73}"/>
              </a:ext>
            </a:extLst>
          </p:cNvPr>
          <p:cNvSpPr txBox="1"/>
          <p:nvPr/>
        </p:nvSpPr>
        <p:spPr>
          <a:xfrm>
            <a:off x="456236" y="1880043"/>
            <a:ext cx="11447400" cy="3693278"/>
          </a:xfrm>
          <a:prstGeom prst="rect">
            <a:avLst/>
          </a:prstGeom>
          <a:noFill/>
          <a:ln>
            <a:noFill/>
          </a:ln>
        </p:spPr>
        <p:txBody>
          <a:bodyPr spcFirstLastPara="1" wrap="square" lIns="91425" tIns="45700" rIns="91425" bIns="45700" anchor="t" anchorCtr="0">
            <a:spAutoFit/>
          </a:bodyPr>
          <a:lstStyle/>
          <a:p>
            <a:r>
              <a:rPr lang="es-ES" sz="1600" dirty="0">
                <a:latin typeface="Work Sans Light" pitchFamily="2" charset="0"/>
              </a:rPr>
              <a:t>El proyecto se desarrollará en un periodo estimado de cuatro trimestres, distribuidos en fases de análisis, diseño, desarrollo, pruebas y despliegue en la nube. El cronograma estará representado en un diagrama de Gantt, donde se especifican las tareas principales, los tiempos de ejecución y las dependencias entre actividades.</a:t>
            </a:r>
          </a:p>
          <a:p>
            <a:endParaRPr lang="es-ES" sz="1600" dirty="0">
              <a:latin typeface="Work Sans Light" pitchFamily="2" charset="0"/>
            </a:endParaRPr>
          </a:p>
          <a:p>
            <a:r>
              <a:rPr lang="es-ES" sz="1600" dirty="0">
                <a:latin typeface="Work Sans Light" pitchFamily="2" charset="0"/>
              </a:rPr>
              <a:t>Dentro de las actividades previstas se incluyen la definición de requerimientos, la normalización de la base de datos, la construcción del modelo relacional, la implementación del </a:t>
            </a:r>
            <a:r>
              <a:rPr lang="es-ES" sz="1600" dirty="0" err="1">
                <a:latin typeface="Work Sans Light" pitchFamily="2" charset="0"/>
              </a:rPr>
              <a:t>frontend</a:t>
            </a:r>
            <a:r>
              <a:rPr lang="es-ES" sz="1600" dirty="0">
                <a:latin typeface="Work Sans Light" pitchFamily="2" charset="0"/>
              </a:rPr>
              <a:t> en </a:t>
            </a:r>
            <a:r>
              <a:rPr lang="es-ES" sz="1600" dirty="0" err="1">
                <a:latin typeface="Work Sans Light" pitchFamily="2" charset="0"/>
              </a:rPr>
              <a:t>React</a:t>
            </a:r>
            <a:r>
              <a:rPr lang="es-ES" sz="1600" dirty="0">
                <a:latin typeface="Work Sans Light" pitchFamily="2" charset="0"/>
              </a:rPr>
              <a:t>, el </a:t>
            </a:r>
            <a:r>
              <a:rPr lang="es-ES" sz="1600" dirty="0" err="1">
                <a:latin typeface="Work Sans Light" pitchFamily="2" charset="0"/>
              </a:rPr>
              <a:t>backend</a:t>
            </a:r>
            <a:r>
              <a:rPr lang="es-ES" sz="1600" dirty="0">
                <a:latin typeface="Work Sans Light" pitchFamily="2" charset="0"/>
              </a:rPr>
              <a:t> en Django y la integración con la base de datos MySQL en Google Cloud. Las evidencias de cada fase comprenden documentos de análisis, diagramas UML, prototipos funcionales, código fuente y reportes de validación.</a:t>
            </a:r>
          </a:p>
          <a:p>
            <a:endParaRPr lang="es-ES" sz="1600" dirty="0">
              <a:latin typeface="Work Sans Light" pitchFamily="2" charset="0"/>
            </a:endParaRPr>
          </a:p>
          <a:p>
            <a:r>
              <a:rPr lang="es-ES" sz="1600" dirty="0">
                <a:latin typeface="Work Sans Light" pitchFamily="2" charset="0"/>
              </a:rPr>
              <a:t>Los responsables del desarrollo abarcan el equipo de programación encargado de la codificación y pruebas, así como el área académica que supervisa el cumplimiento de los entregables en las fechas establecidas. El proyecto se limita al desarrollo de un prototipo funcional con despliegue en la nube, sin incluir todavía su lanzamiento a un entorno de producción real a gran escala.</a:t>
            </a:r>
          </a:p>
          <a:p>
            <a:pPr marL="0" marR="0" lvl="0" indent="0" algn="l" rtl="0">
              <a:spcBef>
                <a:spcPts val="1200"/>
              </a:spcBef>
              <a:spcAft>
                <a:spcPts val="0"/>
              </a:spcAft>
              <a:buNone/>
            </a:pPr>
            <a:endParaRPr sz="1600" dirty="0">
              <a:solidFill>
                <a:schemeClr val="dk1"/>
              </a:solidFill>
              <a:latin typeface="Work Sans Light"/>
              <a:ea typeface="Work Sans Light"/>
              <a:cs typeface="Work Sans Light"/>
              <a:sym typeface="Work Sans Light"/>
            </a:endParaRPr>
          </a:p>
        </p:txBody>
      </p:sp>
    </p:spTree>
    <p:extLst>
      <p:ext uri="{BB962C8B-B14F-4D97-AF65-F5344CB8AC3E}">
        <p14:creationId xmlns:p14="http://schemas.microsoft.com/office/powerpoint/2010/main" val="226095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4"/>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66" name="Google Shape;266;p14"/>
          <p:cNvSpPr txBox="1"/>
          <p:nvPr/>
        </p:nvSpPr>
        <p:spPr>
          <a:xfrm>
            <a:off x="1366063" y="1881018"/>
            <a:ext cx="3854368" cy="954067"/>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Formato de Proyecto</a:t>
            </a:r>
          </a:p>
          <a:p>
            <a:pPr marL="171450" indent="-171450">
              <a:buClr>
                <a:schemeClr val="dk1"/>
              </a:buClr>
              <a:buSzPts val="1400"/>
              <a:buFont typeface="Arial"/>
              <a:buChar char="•"/>
            </a:pPr>
            <a:r>
              <a:rPr lang="es-MX" dirty="0">
                <a:solidFill>
                  <a:schemeClr val="dk1"/>
                </a:solidFill>
                <a:latin typeface="Work Sans Light"/>
                <a:sym typeface="Work Sans Light"/>
              </a:rPr>
              <a:t>Recolección de Datos</a:t>
            </a:r>
            <a:endParaRPr lang="es-MX" sz="1400" dirty="0">
              <a:solidFill>
                <a:schemeClr val="dk1"/>
              </a:solidFill>
              <a:latin typeface="Work Sans Light"/>
              <a:ea typeface="Work Sans Light"/>
              <a:cs typeface="Work Sans Light"/>
              <a:sym typeface="Work Sans Light"/>
            </a:endParaRPr>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Diagrama de Procesos</a:t>
            </a:r>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IEEE-830</a:t>
            </a:r>
          </a:p>
        </p:txBody>
      </p:sp>
      <p:grpSp>
        <p:nvGrpSpPr>
          <p:cNvPr id="267" name="Google Shape;267;p14"/>
          <p:cNvGrpSpPr/>
          <p:nvPr/>
        </p:nvGrpSpPr>
        <p:grpSpPr>
          <a:xfrm>
            <a:off x="1111717" y="1494678"/>
            <a:ext cx="3239167" cy="347863"/>
            <a:chOff x="668953" y="1494678"/>
            <a:chExt cx="3239167" cy="347863"/>
          </a:xfrm>
        </p:grpSpPr>
        <p:sp>
          <p:nvSpPr>
            <p:cNvPr id="268" name="Google Shape;268;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Primer Trimestre</a:t>
              </a:r>
              <a:endParaRPr/>
            </a:p>
          </p:txBody>
        </p:sp>
      </p:grpSp>
      <p:sp>
        <p:nvSpPr>
          <p:cNvPr id="270" name="Google Shape;270;p14"/>
          <p:cNvSpPr txBox="1"/>
          <p:nvPr/>
        </p:nvSpPr>
        <p:spPr>
          <a:xfrm>
            <a:off x="1366063" y="4602498"/>
            <a:ext cx="3536482" cy="1384954"/>
          </a:xfrm>
          <a:prstGeom prst="rect">
            <a:avLst/>
          </a:prstGeom>
          <a:noFill/>
          <a:ln>
            <a:noFill/>
          </a:ln>
        </p:spPr>
        <p:txBody>
          <a:bodyPr spcFirstLastPara="1" wrap="square" lIns="91425" tIns="45700" rIns="91425" bIns="45700" anchor="t" anchorCtr="0">
            <a:spAutoFit/>
          </a:bodyPr>
          <a:lstStyle/>
          <a:p>
            <a:pPr marL="171450" lvl="0" indent="-171450">
              <a:buClr>
                <a:schemeClr val="dk1"/>
              </a:buClr>
              <a:buSzPts val="1400"/>
              <a:buFont typeface="Arial"/>
              <a:buChar char="•"/>
            </a:pPr>
            <a:r>
              <a:rPr lang="es-MX" dirty="0">
                <a:solidFill>
                  <a:schemeClr val="dk1"/>
                </a:solidFill>
                <a:latin typeface="Work Sans Light"/>
                <a:ea typeface="Work Sans Light"/>
                <a:cs typeface="Work Sans Light"/>
                <a:sym typeface="Work Sans Light"/>
              </a:rPr>
              <a:t>Requisitos Funcionales y</a:t>
            </a:r>
            <a:br>
              <a:rPr lang="es-MX" dirty="0">
                <a:solidFill>
                  <a:schemeClr val="dk1"/>
                </a:solidFill>
                <a:latin typeface="Work Sans Light"/>
                <a:ea typeface="Work Sans Light"/>
                <a:cs typeface="Work Sans Light"/>
                <a:sym typeface="Work Sans Light"/>
              </a:rPr>
            </a:br>
            <a:r>
              <a:rPr lang="es-MX" dirty="0">
                <a:solidFill>
                  <a:schemeClr val="dk1"/>
                </a:solidFill>
                <a:latin typeface="Work Sans Light"/>
                <a:ea typeface="Work Sans Light"/>
                <a:cs typeface="Work Sans Light"/>
                <a:sym typeface="Work Sans Light"/>
              </a:rPr>
              <a:t>No Funcionales</a:t>
            </a:r>
          </a:p>
          <a:p>
            <a:pPr marL="171450" lvl="0" indent="-171450">
              <a:buClr>
                <a:schemeClr val="dk1"/>
              </a:buClr>
              <a:buSzPts val="1400"/>
              <a:buFont typeface="Arial"/>
              <a:buChar char="•"/>
            </a:pPr>
            <a:r>
              <a:rPr lang="es-MX" dirty="0">
                <a:solidFill>
                  <a:schemeClr val="dk1"/>
                </a:solidFill>
                <a:latin typeface="Work Sans Light"/>
                <a:ea typeface="Work Sans Light"/>
                <a:cs typeface="Work Sans Light"/>
                <a:sym typeface="Work Sans Light"/>
              </a:rPr>
              <a:t>Diagrama Casos de Uso</a:t>
            </a:r>
            <a:endParaRPr lang="es-MX" dirty="0"/>
          </a:p>
          <a:p>
            <a:pPr marL="171450" lvl="0" indent="-171450">
              <a:buClr>
                <a:schemeClr val="dk1"/>
              </a:buClr>
              <a:buSzPts val="1400"/>
              <a:buFont typeface="Arial"/>
              <a:buChar char="•"/>
            </a:pPr>
            <a:r>
              <a:rPr lang="es-MX" dirty="0">
                <a:solidFill>
                  <a:schemeClr val="dk1"/>
                </a:solidFill>
                <a:latin typeface="Work Sans Light"/>
                <a:ea typeface="Work Sans Light"/>
                <a:cs typeface="Work Sans Light"/>
                <a:sym typeface="Work Sans Light"/>
              </a:rPr>
              <a:t>Casos de Uso Extendido</a:t>
            </a:r>
          </a:p>
          <a:p>
            <a:pPr marL="171450" lvl="0" indent="-171450">
              <a:buClr>
                <a:schemeClr val="dk1"/>
              </a:buClr>
              <a:buSzPts val="1400"/>
              <a:buFont typeface="Arial"/>
              <a:buChar char="•"/>
            </a:pPr>
            <a:r>
              <a:rPr lang="es-MX" dirty="0">
                <a:solidFill>
                  <a:schemeClr val="dk1"/>
                </a:solidFill>
                <a:latin typeface="Work Sans Light"/>
                <a:sym typeface="Work Sans Light"/>
              </a:rPr>
              <a:t>Fichas Técnicas y Costos</a:t>
            </a:r>
          </a:p>
          <a:p>
            <a:pPr marL="171450" lvl="0" indent="-171450">
              <a:buClr>
                <a:schemeClr val="dk1"/>
              </a:buClr>
              <a:buSzPts val="1400"/>
              <a:buFont typeface="Arial"/>
              <a:buChar char="•"/>
            </a:pPr>
            <a:r>
              <a:rPr lang="es-MX" dirty="0">
                <a:solidFill>
                  <a:schemeClr val="dk1"/>
                </a:solidFill>
                <a:latin typeface="Work Sans Light"/>
                <a:sym typeface="Work Sans Light"/>
              </a:rPr>
              <a:t>Wireframes</a:t>
            </a:r>
            <a:endParaRPr lang="es-MX" dirty="0"/>
          </a:p>
        </p:txBody>
      </p:sp>
      <p:grpSp>
        <p:nvGrpSpPr>
          <p:cNvPr id="271" name="Google Shape;271;p14"/>
          <p:cNvGrpSpPr/>
          <p:nvPr/>
        </p:nvGrpSpPr>
        <p:grpSpPr>
          <a:xfrm>
            <a:off x="1060822" y="4230357"/>
            <a:ext cx="3239167" cy="347863"/>
            <a:chOff x="668953" y="1494678"/>
            <a:chExt cx="3239167" cy="347863"/>
          </a:xfrm>
        </p:grpSpPr>
        <p:sp>
          <p:nvSpPr>
            <p:cNvPr id="272" name="Google Shape;272;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Segundo Trimestre</a:t>
              </a:r>
              <a:endParaRPr/>
            </a:p>
          </p:txBody>
        </p:sp>
      </p:grpSp>
      <p:grpSp>
        <p:nvGrpSpPr>
          <p:cNvPr id="274" name="Google Shape;274;p14"/>
          <p:cNvGrpSpPr/>
          <p:nvPr/>
        </p:nvGrpSpPr>
        <p:grpSpPr>
          <a:xfrm>
            <a:off x="4902545" y="2675450"/>
            <a:ext cx="3239167" cy="347863"/>
            <a:chOff x="668953" y="1494678"/>
            <a:chExt cx="3239167" cy="347863"/>
          </a:xfrm>
        </p:grpSpPr>
        <p:sp>
          <p:nvSpPr>
            <p:cNvPr id="275" name="Google Shape;275;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Tercer Trimestre</a:t>
              </a:r>
              <a:endParaRPr/>
            </a:p>
          </p:txBody>
        </p:sp>
      </p:grpSp>
      <p:sp>
        <p:nvSpPr>
          <p:cNvPr id="277" name="Google Shape;277;p14"/>
          <p:cNvSpPr txBox="1"/>
          <p:nvPr/>
        </p:nvSpPr>
        <p:spPr>
          <a:xfrm>
            <a:off x="5044387" y="3136382"/>
            <a:ext cx="3305954" cy="1815841"/>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Modelo Entidad Relación</a:t>
            </a:r>
          </a:p>
          <a:p>
            <a:pPr marL="285750" lvl="0" indent="-285750">
              <a:buClr>
                <a:schemeClr val="dk1"/>
              </a:buClr>
              <a:buSzPts val="1400"/>
              <a:buFont typeface="Arial"/>
              <a:buChar char="•"/>
            </a:pPr>
            <a:r>
              <a:rPr lang="es-ES" dirty="0">
                <a:solidFill>
                  <a:schemeClr val="dk1"/>
                </a:solidFill>
                <a:latin typeface="Work Sans Light"/>
                <a:sym typeface="Work Sans Light"/>
              </a:rPr>
              <a:t>Diagrama de Clases</a:t>
            </a:r>
          </a:p>
          <a:p>
            <a:pPr marL="285750" lvl="0" indent="-285750">
              <a:buClr>
                <a:schemeClr val="dk1"/>
              </a:buClr>
              <a:buSzPts val="1400"/>
              <a:buFont typeface="Arial"/>
              <a:buChar char="•"/>
            </a:pPr>
            <a:r>
              <a:rPr lang="es-ES" dirty="0">
                <a:solidFill>
                  <a:schemeClr val="dk1"/>
                </a:solidFill>
                <a:latin typeface="Work Sans Light"/>
                <a:sym typeface="Work Sans Light"/>
              </a:rPr>
              <a:t>Diagrama de Distribución</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Modelo Relacional</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Diccionario de Datos</a:t>
            </a:r>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Normalización Modelo Relacional</a:t>
            </a:r>
          </a:p>
          <a:p>
            <a:pPr marL="285750" indent="-285750">
              <a:buClr>
                <a:schemeClr val="dk1"/>
              </a:buClr>
              <a:buSzPts val="1400"/>
              <a:buFont typeface="Arial"/>
              <a:buChar char="•"/>
            </a:pPr>
            <a:r>
              <a:rPr lang="es-MX" dirty="0">
                <a:solidFill>
                  <a:schemeClr val="dk1"/>
                </a:solidFill>
                <a:latin typeface="Work Sans Light"/>
                <a:ea typeface="Work Sans Light"/>
                <a:cs typeface="Work Sans Light"/>
                <a:sym typeface="Work Sans Light"/>
              </a:rPr>
              <a:t>Prototipo No Funcional</a:t>
            </a:r>
          </a:p>
          <a:p>
            <a:pPr marL="285750" lvl="0" indent="-285750">
              <a:buClr>
                <a:schemeClr val="dk1"/>
              </a:buClr>
              <a:buSzPts val="1400"/>
              <a:buFont typeface="Arial"/>
              <a:buChar char="•"/>
            </a:pPr>
            <a:endParaRPr sz="1400" dirty="0">
              <a:solidFill>
                <a:schemeClr val="dk1"/>
              </a:solidFill>
              <a:latin typeface="Work Sans Light"/>
              <a:ea typeface="Work Sans Light"/>
              <a:cs typeface="Work Sans Light"/>
              <a:sym typeface="Work Sans Light"/>
            </a:endParaRPr>
          </a:p>
        </p:txBody>
      </p:sp>
      <p:grpSp>
        <p:nvGrpSpPr>
          <p:cNvPr id="278" name="Google Shape;278;p14"/>
          <p:cNvGrpSpPr/>
          <p:nvPr/>
        </p:nvGrpSpPr>
        <p:grpSpPr>
          <a:xfrm>
            <a:off x="4909555" y="4722219"/>
            <a:ext cx="3239167" cy="347863"/>
            <a:chOff x="668953" y="1494678"/>
            <a:chExt cx="3239167" cy="347863"/>
          </a:xfrm>
        </p:grpSpPr>
        <p:sp>
          <p:nvSpPr>
            <p:cNvPr id="279" name="Google Shape;279;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Cuarto Trimestre</a:t>
              </a:r>
              <a:endParaRPr/>
            </a:p>
          </p:txBody>
        </p:sp>
      </p:grpSp>
      <p:sp>
        <p:nvSpPr>
          <p:cNvPr id="281" name="Google Shape;281;p14"/>
          <p:cNvSpPr txBox="1"/>
          <p:nvPr/>
        </p:nvSpPr>
        <p:spPr>
          <a:xfrm>
            <a:off x="5138058" y="5219739"/>
            <a:ext cx="3325018" cy="1384954"/>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Script de la BBDD</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Sentencias DDL</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Consultas DML</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Automatización de la BBDD</a:t>
            </a:r>
            <a:endParaRPr lang="es-ES" dirty="0"/>
          </a:p>
          <a:p>
            <a:pPr marL="285750" lvl="0" indent="-285750">
              <a:buClr>
                <a:schemeClr val="dk1"/>
              </a:buClr>
              <a:buSzPts val="1400"/>
              <a:buFont typeface="Arial"/>
              <a:buChar char="•"/>
            </a:pPr>
            <a:r>
              <a:rPr lang="es-ES" dirty="0">
                <a:solidFill>
                  <a:schemeClr val="dk1"/>
                </a:solidFill>
                <a:latin typeface="Work Sans Light"/>
                <a:ea typeface="Work Sans Light"/>
                <a:cs typeface="Work Sans Light"/>
                <a:sym typeface="Work Sans Light"/>
              </a:rPr>
              <a:t>Sistema de Información Web – Servidor Local</a:t>
            </a:r>
            <a:endParaRPr lang="es-MX" sz="1400" dirty="0">
              <a:solidFill>
                <a:schemeClr val="dk1"/>
              </a:solidFill>
              <a:latin typeface="Work Sans Light"/>
              <a:ea typeface="Work Sans Light"/>
              <a:cs typeface="Work Sans Light"/>
              <a:sym typeface="Work Sans Light"/>
            </a:endParaRPr>
          </a:p>
        </p:txBody>
      </p:sp>
      <p:grpSp>
        <p:nvGrpSpPr>
          <p:cNvPr id="282" name="Google Shape;282;p14"/>
          <p:cNvGrpSpPr/>
          <p:nvPr/>
        </p:nvGrpSpPr>
        <p:grpSpPr>
          <a:xfrm>
            <a:off x="8350341" y="3568215"/>
            <a:ext cx="3239167" cy="347863"/>
            <a:chOff x="668953" y="1494678"/>
            <a:chExt cx="3239167" cy="347863"/>
          </a:xfrm>
        </p:grpSpPr>
        <p:sp>
          <p:nvSpPr>
            <p:cNvPr id="283" name="Google Shape;283;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Quinto Trimestre</a:t>
              </a:r>
              <a:endParaRPr/>
            </a:p>
          </p:txBody>
        </p:sp>
      </p:grpSp>
      <p:sp>
        <p:nvSpPr>
          <p:cNvPr id="285" name="Google Shape;285;p14"/>
          <p:cNvSpPr txBox="1"/>
          <p:nvPr/>
        </p:nvSpPr>
        <p:spPr>
          <a:xfrm>
            <a:off x="8578844" y="4065735"/>
            <a:ext cx="2750090" cy="1815841"/>
          </a:xfrm>
          <a:prstGeom prst="rect">
            <a:avLst/>
          </a:prstGeom>
          <a:noFill/>
          <a:ln>
            <a:noFill/>
          </a:ln>
        </p:spPr>
        <p:txBody>
          <a:bodyPr spcFirstLastPara="1" wrap="square" lIns="91425" tIns="45700" rIns="91425" bIns="45700" anchor="t" anchorCtr="0">
            <a:spAutoFit/>
          </a:bodyPr>
          <a:lstStyle/>
          <a:p>
            <a:pPr marL="171450" lvl="0" indent="-171450">
              <a:buClr>
                <a:schemeClr val="dk1"/>
              </a:buClr>
              <a:buSzPts val="1400"/>
              <a:buFont typeface="Arial"/>
              <a:buChar char="•"/>
            </a:pPr>
            <a:r>
              <a:rPr lang="es-ES" dirty="0">
                <a:solidFill>
                  <a:schemeClr val="dk1"/>
                </a:solidFill>
                <a:latin typeface="Work Sans Light"/>
                <a:ea typeface="Work Sans Light"/>
                <a:cs typeface="Work Sans Light"/>
                <a:sym typeface="Work Sans Light"/>
              </a:rPr>
              <a:t>Manual de Instalación </a:t>
            </a:r>
            <a:endParaRPr lang="es-ES" dirty="0"/>
          </a:p>
          <a:p>
            <a:pPr marL="171450" lvl="0" indent="-171450">
              <a:buClr>
                <a:schemeClr val="dk1"/>
              </a:buClr>
              <a:buSzPts val="1400"/>
              <a:buFont typeface="Arial"/>
              <a:buChar char="•"/>
            </a:pPr>
            <a:r>
              <a:rPr lang="es-ES" dirty="0">
                <a:solidFill>
                  <a:schemeClr val="dk1"/>
                </a:solidFill>
                <a:latin typeface="Work Sans Light"/>
                <a:ea typeface="Work Sans Light"/>
                <a:cs typeface="Work Sans Light"/>
                <a:sym typeface="Work Sans Light"/>
              </a:rPr>
              <a:t>Configuración del Servidor de Aplicaciones</a:t>
            </a:r>
            <a:endParaRPr lang="es-ES" dirty="0"/>
          </a:p>
          <a:p>
            <a:pPr marL="171450" lvl="0" indent="-171450">
              <a:buClr>
                <a:schemeClr val="dk1"/>
              </a:buClr>
              <a:buSzPts val="1400"/>
              <a:buFont typeface="Arial"/>
              <a:buChar char="•"/>
            </a:pPr>
            <a:r>
              <a:rPr lang="es-ES" dirty="0">
                <a:solidFill>
                  <a:schemeClr val="dk1"/>
                </a:solidFill>
                <a:latin typeface="Work Sans Light"/>
                <a:ea typeface="Work Sans Light"/>
                <a:cs typeface="Work Sans Light"/>
                <a:sym typeface="Work Sans Light"/>
              </a:rPr>
              <a:t>Configuración del Servidor de BBDD</a:t>
            </a:r>
            <a:endParaRPr lang="es-MX" sz="1400" dirty="0">
              <a:solidFill>
                <a:schemeClr val="dk1"/>
              </a:solidFill>
              <a:latin typeface="Work Sans Light"/>
              <a:ea typeface="Work Sans Light"/>
              <a:cs typeface="Work Sans Light"/>
              <a:sym typeface="Work Sans Light"/>
            </a:endParaRPr>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Manual de Usuario</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Sistema de Información Web – Servidor Externo</a:t>
            </a:r>
            <a:endParaRPr sz="1400" dirty="0">
              <a:solidFill>
                <a:schemeClr val="dk1"/>
              </a:solidFill>
              <a:latin typeface="Work Sans Light"/>
              <a:ea typeface="Work Sans Light"/>
              <a:cs typeface="Work Sans Light"/>
              <a:sym typeface="Work Sans Light"/>
            </a:endParaRPr>
          </a:p>
        </p:txBody>
      </p:sp>
      <p:pic>
        <p:nvPicPr>
          <p:cNvPr id="286" name="Google Shape;286;p14"/>
          <p:cNvPicPr preferRelativeResize="0"/>
          <p:nvPr/>
        </p:nvPicPr>
        <p:blipFill>
          <a:blip r:embed="rId3">
            <a:alphaModFix/>
          </a:blip>
          <a:stretch>
            <a:fillRect/>
          </a:stretch>
        </p:blipFill>
        <p:spPr>
          <a:xfrm>
            <a:off x="8083679" y="219200"/>
            <a:ext cx="2763400" cy="1108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15"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943</Words>
  <Application>Microsoft Office PowerPoint</Application>
  <PresentationFormat>Panorámica</PresentationFormat>
  <Paragraphs>86</Paragraphs>
  <Slides>11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Work Sans Medium</vt:lpstr>
      <vt:lpstr>Calibri</vt:lpstr>
      <vt:lpstr>Arial</vt:lpstr>
      <vt:lpstr>Work Sans</vt:lpstr>
      <vt:lpstr>Work Sans Light</vt:lpstr>
      <vt:lpstr>Tema de Office</vt:lpstr>
      <vt:lpstr>Presentación de PowerPoint</vt:lpstr>
      <vt:lpstr>Presentación de PowerPoint</vt:lpstr>
      <vt:lpstr>Presentación de PowerPoint</vt:lpstr>
      <vt:lpstr>Presentación de PowerPoint</vt:lpstr>
      <vt:lpstr>Problema</vt:lpstr>
      <vt:lpstr>Presentación de PowerPoint</vt:lpstr>
      <vt:lpstr>Justificación</vt:lpstr>
      <vt:lpstr>Alcance</vt:lpstr>
      <vt:lpstr>Delimitación</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Paula Andrea Forero Borda</cp:lastModifiedBy>
  <cp:revision>1</cp:revision>
  <dcterms:created xsi:type="dcterms:W3CDTF">2020-10-01T23:51:28Z</dcterms:created>
  <dcterms:modified xsi:type="dcterms:W3CDTF">2025-09-19T20:54:35Z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