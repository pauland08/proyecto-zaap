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76" r:id="rId10"/>
    <p:sldId id="277" r:id="rId11"/>
    <p:sldId id="274" r:id="rId12"/>
    <p:sldId id="275" r:id="rId13"/>
  </p:sldIdLst>
  <p:sldSz cx="12192000" cy="6858000"/>
  <p:notesSz cx="6858000" cy="9144000"/>
  <p:embeddedFontLst>
    <p:embeddedFont>
      <p:font typeface="Work Sans" pitchFamily="2" charset="0"/>
      <p:regular r:id="rId15"/>
      <p:bold r:id="rId16"/>
      <p:italic r:id="rId17"/>
      <p:boldItalic r:id="rId18"/>
    </p:embeddedFont>
    <p:embeddedFont>
      <p:font typeface="Work Sans Light" pitchFamily="2" charset="0"/>
      <p:regular r:id="rId19"/>
      <p:bold r:id="rId20"/>
      <p:italic r:id="rId21"/>
      <p:boldItalic r:id="rId22"/>
    </p:embeddedFont>
    <p:embeddedFont>
      <p:font typeface="Work Sans Medium" pitchFamily="2" charset="0"/>
      <p:regular r:id="rId23"/>
      <p:bold r:id="rId24"/>
      <p:italic r:id="rId25"/>
      <p:boldItalic r:id="rId2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37" roundtripDataSignature="AMtx7mi5U4lGs0HM2gfvZJJ6+gxtNsYIu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2775" autoAdjust="0"/>
  </p:normalViewPr>
  <p:slideViewPr>
    <p:cSldViewPr snapToGrid="0">
      <p:cViewPr varScale="1">
        <p:scale>
          <a:sx n="108" d="100"/>
          <a:sy n="108" d="100"/>
        </p:scale>
        <p:origin x="678"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4.fntdata"/><Relationship Id="rId26" Type="http://schemas.openxmlformats.org/officeDocument/2006/relationships/font" Target="fonts/font12.fntdata"/><Relationship Id="rId39"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font" Target="fonts/font7.fntdata"/><Relationship Id="rId42"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3.fntdata"/><Relationship Id="rId25" Type="http://schemas.openxmlformats.org/officeDocument/2006/relationships/font" Target="fonts/font11.fntdata"/><Relationship Id="rId38"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font" Target="fonts/font2.fntdata"/><Relationship Id="rId20" Type="http://schemas.openxmlformats.org/officeDocument/2006/relationships/font" Target="fonts/font6.fntdata"/><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0.fntdata"/><Relationship Id="rId37" Type="http://customschemas.google.com/relationships/presentationmetadata" Target="metadata"/><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font" Target="fonts/font1.fntdata"/><Relationship Id="rId23" Type="http://schemas.openxmlformats.org/officeDocument/2006/relationships/font" Target="fonts/font9.fntdata"/><Relationship Id="rId10" Type="http://schemas.openxmlformats.org/officeDocument/2006/relationships/slide" Target="slides/slide9.xml"/><Relationship Id="rId19" Type="http://schemas.openxmlformats.org/officeDocument/2006/relationships/font" Target="fonts/font5.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 Id="rId22" Type="http://schemas.openxmlformats.org/officeDocument/2006/relationships/font" Target="fonts/font8.fntdata"/></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ula Andrea Forero Borda" userId="99cb437a-0b3c-450a-ab54-eaead9063239" providerId="ADAL" clId="{E0796ABD-CF9C-41A4-A256-FF4EDAC7BB43}"/>
    <pc:docChg chg="modSld">
      <pc:chgData name="Paula Andrea Forero Borda" userId="99cb437a-0b3c-450a-ab54-eaead9063239" providerId="ADAL" clId="{E0796ABD-CF9C-41A4-A256-FF4EDAC7BB43}" dt="2025-12-15T14:22:58.119" v="157" actId="20577"/>
      <pc:docMkLst>
        <pc:docMk/>
      </pc:docMkLst>
      <pc:sldChg chg="modSp mod">
        <pc:chgData name="Paula Andrea Forero Borda" userId="99cb437a-0b3c-450a-ab54-eaead9063239" providerId="ADAL" clId="{E0796ABD-CF9C-41A4-A256-FF4EDAC7BB43}" dt="2025-12-15T13:58:37.673" v="0" actId="20577"/>
        <pc:sldMkLst>
          <pc:docMk/>
          <pc:sldMk cId="0" sldId="257"/>
        </pc:sldMkLst>
        <pc:spChg chg="mod">
          <ac:chgData name="Paula Andrea Forero Borda" userId="99cb437a-0b3c-450a-ab54-eaead9063239" providerId="ADAL" clId="{E0796ABD-CF9C-41A4-A256-FF4EDAC7BB43}" dt="2025-12-15T13:58:37.673" v="0" actId="20577"/>
          <ac:spMkLst>
            <pc:docMk/>
            <pc:sldMk cId="0" sldId="257"/>
            <ac:spMk id="110" creationId="{00000000-0000-0000-0000-000000000000}"/>
          </ac:spMkLst>
        </pc:spChg>
      </pc:sldChg>
      <pc:sldChg chg="modSp mod">
        <pc:chgData name="Paula Andrea Forero Borda" userId="99cb437a-0b3c-450a-ab54-eaead9063239" providerId="ADAL" clId="{E0796ABD-CF9C-41A4-A256-FF4EDAC7BB43}" dt="2025-12-15T13:59:57.271" v="7" actId="1076"/>
        <pc:sldMkLst>
          <pc:docMk/>
          <pc:sldMk cId="0" sldId="258"/>
        </pc:sldMkLst>
        <pc:spChg chg="mod">
          <ac:chgData name="Paula Andrea Forero Borda" userId="99cb437a-0b3c-450a-ab54-eaead9063239" providerId="ADAL" clId="{E0796ABD-CF9C-41A4-A256-FF4EDAC7BB43}" dt="2025-12-15T13:59:57.271" v="7" actId="1076"/>
          <ac:spMkLst>
            <pc:docMk/>
            <pc:sldMk cId="0" sldId="258"/>
            <ac:spMk id="118" creationId="{00000000-0000-0000-0000-000000000000}"/>
          </ac:spMkLst>
        </pc:spChg>
      </pc:sldChg>
      <pc:sldChg chg="modSp mod">
        <pc:chgData name="Paula Andrea Forero Borda" userId="99cb437a-0b3c-450a-ab54-eaead9063239" providerId="ADAL" clId="{E0796ABD-CF9C-41A4-A256-FF4EDAC7BB43}" dt="2025-12-15T14:00:57.779" v="13" actId="115"/>
        <pc:sldMkLst>
          <pc:docMk/>
          <pc:sldMk cId="0" sldId="260"/>
        </pc:sldMkLst>
        <pc:spChg chg="mod">
          <ac:chgData name="Paula Andrea Forero Borda" userId="99cb437a-0b3c-450a-ab54-eaead9063239" providerId="ADAL" clId="{E0796ABD-CF9C-41A4-A256-FF4EDAC7BB43}" dt="2025-12-15T14:00:57.779" v="13" actId="115"/>
          <ac:spMkLst>
            <pc:docMk/>
            <pc:sldMk cId="0" sldId="260"/>
            <ac:spMk id="133" creationId="{00000000-0000-0000-0000-000000000000}"/>
          </ac:spMkLst>
        </pc:spChg>
      </pc:sldChg>
      <pc:sldChg chg="modSp mod">
        <pc:chgData name="Paula Andrea Forero Borda" userId="99cb437a-0b3c-450a-ab54-eaead9063239" providerId="ADAL" clId="{E0796ABD-CF9C-41A4-A256-FF4EDAC7BB43}" dt="2025-12-15T14:22:58.119" v="157" actId="20577"/>
        <pc:sldMkLst>
          <pc:docMk/>
          <pc:sldMk cId="0" sldId="261"/>
        </pc:sldMkLst>
        <pc:spChg chg="mod">
          <ac:chgData name="Paula Andrea Forero Borda" userId="99cb437a-0b3c-450a-ab54-eaead9063239" providerId="ADAL" clId="{E0796ABD-CF9C-41A4-A256-FF4EDAC7BB43}" dt="2025-12-15T14:11:42.331" v="140" actId="115"/>
          <ac:spMkLst>
            <pc:docMk/>
            <pc:sldMk cId="0" sldId="261"/>
            <ac:spMk id="141" creationId="{00000000-0000-0000-0000-000000000000}"/>
          </ac:spMkLst>
        </pc:spChg>
        <pc:spChg chg="mod">
          <ac:chgData name="Paula Andrea Forero Borda" userId="99cb437a-0b3c-450a-ab54-eaead9063239" providerId="ADAL" clId="{E0796ABD-CF9C-41A4-A256-FF4EDAC7BB43}" dt="2025-12-15T14:22:58.119" v="157" actId="20577"/>
          <ac:spMkLst>
            <pc:docMk/>
            <pc:sldMk cId="0" sldId="261"/>
            <ac:spMk id="144" creationId="{00000000-0000-0000-0000-000000000000}"/>
          </ac:spMkLst>
        </pc:spChg>
      </pc:sldChg>
      <pc:sldChg chg="modSp mod">
        <pc:chgData name="Paula Andrea Forero Borda" userId="99cb437a-0b3c-450a-ab54-eaead9063239" providerId="ADAL" clId="{E0796ABD-CF9C-41A4-A256-FF4EDAC7BB43}" dt="2025-12-15T14:03:13.454" v="115" actId="20577"/>
        <pc:sldMkLst>
          <pc:docMk/>
          <pc:sldMk cId="0" sldId="263"/>
        </pc:sldMkLst>
        <pc:spChg chg="mod">
          <ac:chgData name="Paula Andrea Forero Borda" userId="99cb437a-0b3c-450a-ab54-eaead9063239" providerId="ADAL" clId="{E0796ABD-CF9C-41A4-A256-FF4EDAC7BB43}" dt="2025-12-15T14:03:13.454" v="115" actId="20577"/>
          <ac:spMkLst>
            <pc:docMk/>
            <pc:sldMk cId="0" sldId="263"/>
            <ac:spMk id="160"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s-CO"/>
          </a:p>
        </p:txBody>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s-MX" sz="1200" b="0" i="0" u="none" strike="noStrike" cap="none">
                <a:solidFill>
                  <a:schemeClr val="dk1"/>
                </a:solidFill>
                <a:latin typeface="Calibri"/>
                <a:ea typeface="Calibri"/>
                <a:cs typeface="Calibri"/>
                <a:sym typeface="Calibri"/>
              </a:rPr>
              <a:t>‹Nº›</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s-CO"/>
          </a:p>
        </p:txBody>
      </p:sp>
      <p:sp>
        <p:nvSpPr>
          <p:cNvPr id="98" name="Google Shape;98;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9" name="Google Shape;99;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s-MX"/>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6" name="Google Shape;106;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s-CO"/>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s-CO"/>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
        <p:cNvGrpSpPr/>
        <p:nvPr/>
      </p:nvGrpSpPr>
      <p:grpSpPr>
        <a:xfrm>
          <a:off x="0" y="0"/>
          <a:ext cx="0" cy="0"/>
          <a:chOff x="0" y="0"/>
          <a:chExt cx="0" cy="0"/>
        </a:xfrm>
      </p:grpSpPr>
      <p:sp>
        <p:nvSpPr>
          <p:cNvPr id="121" name="Google Shape;121;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2" name="Google Shape;122;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s-CO"/>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0" name="Google Shape;130;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s-CO"/>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
        <p:cNvGrpSpPr/>
        <p:nvPr/>
      </p:nvGrpSpPr>
      <p:grpSpPr>
        <a:xfrm>
          <a:off x="0" y="0"/>
          <a:ext cx="0" cy="0"/>
          <a:chOff x="0" y="0"/>
          <a:chExt cx="0" cy="0"/>
        </a:xfrm>
      </p:grpSpPr>
      <p:sp>
        <p:nvSpPr>
          <p:cNvPr id="136" name="Google Shape;136;p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37" name="Google Shape;137;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s-CO"/>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Google Shape;149;p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0" name="Google Shape;150;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s-CO"/>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p1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7" name="Google Shape;157;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s-CO"/>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a:extLst>
            <a:ext uri="{FF2B5EF4-FFF2-40B4-BE49-F238E27FC236}">
              <a16:creationId xmlns:a16="http://schemas.microsoft.com/office/drawing/2014/main" id="{F4A2D685-B0ED-58AB-47FE-DDE94E821D79}"/>
            </a:ext>
          </a:extLst>
        </p:cNvPr>
        <p:cNvGrpSpPr/>
        <p:nvPr/>
      </p:nvGrpSpPr>
      <p:grpSpPr>
        <a:xfrm>
          <a:off x="0" y="0"/>
          <a:ext cx="0" cy="0"/>
          <a:chOff x="0" y="0"/>
          <a:chExt cx="0" cy="0"/>
        </a:xfrm>
      </p:grpSpPr>
      <p:sp>
        <p:nvSpPr>
          <p:cNvPr id="156" name="Google Shape;156;p10:notes">
            <a:extLst>
              <a:ext uri="{FF2B5EF4-FFF2-40B4-BE49-F238E27FC236}">
                <a16:creationId xmlns:a16="http://schemas.microsoft.com/office/drawing/2014/main" id="{C2E7195C-9EF5-6F28-E935-DF5523F0021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7" name="Google Shape;157;p10:notes">
            <a:extLst>
              <a:ext uri="{FF2B5EF4-FFF2-40B4-BE49-F238E27FC236}">
                <a16:creationId xmlns:a16="http://schemas.microsoft.com/office/drawing/2014/main" id="{A178D822-FCB9-A414-32EF-B3833C3BAB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s-CO"/>
          </a:p>
        </p:txBody>
      </p:sp>
    </p:spTree>
    <p:extLst>
      <p:ext uri="{BB962C8B-B14F-4D97-AF65-F5344CB8AC3E}">
        <p14:creationId xmlns:p14="http://schemas.microsoft.com/office/powerpoint/2010/main" val="31874793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a:extLst>
            <a:ext uri="{FF2B5EF4-FFF2-40B4-BE49-F238E27FC236}">
              <a16:creationId xmlns:a16="http://schemas.microsoft.com/office/drawing/2014/main" id="{1BBC5D4E-CF29-7EE1-34DF-3E6283C6D159}"/>
            </a:ext>
          </a:extLst>
        </p:cNvPr>
        <p:cNvGrpSpPr/>
        <p:nvPr/>
      </p:nvGrpSpPr>
      <p:grpSpPr>
        <a:xfrm>
          <a:off x="0" y="0"/>
          <a:ext cx="0" cy="0"/>
          <a:chOff x="0" y="0"/>
          <a:chExt cx="0" cy="0"/>
        </a:xfrm>
      </p:grpSpPr>
      <p:sp>
        <p:nvSpPr>
          <p:cNvPr id="156" name="Google Shape;156;p10:notes">
            <a:extLst>
              <a:ext uri="{FF2B5EF4-FFF2-40B4-BE49-F238E27FC236}">
                <a16:creationId xmlns:a16="http://schemas.microsoft.com/office/drawing/2014/main" id="{9689CF2E-788F-E514-B9DF-6148DA922F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7" name="Google Shape;157;p10:notes">
            <a:extLst>
              <a:ext uri="{FF2B5EF4-FFF2-40B4-BE49-F238E27FC236}">
                <a16:creationId xmlns:a16="http://schemas.microsoft.com/office/drawing/2014/main" id="{4BD54574-2CD4-4B63-3C07-F7A817AF3E1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s-CO"/>
          </a:p>
        </p:txBody>
      </p:sp>
    </p:spTree>
    <p:extLst>
      <p:ext uri="{BB962C8B-B14F-4D97-AF65-F5344CB8AC3E}">
        <p14:creationId xmlns:p14="http://schemas.microsoft.com/office/powerpoint/2010/main" val="6870131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s-CO"/>
          </a:p>
        </p:txBody>
      </p:sp>
      <p:sp>
        <p:nvSpPr>
          <p:cNvPr id="262" name="Google Shape;262;p1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3" name="Google Shape;263;p1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s-MX"/>
              <a:t>11</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7"/>
        <p:cNvGrpSpPr/>
        <p:nvPr/>
      </p:nvGrpSpPr>
      <p:grpSpPr>
        <a:xfrm>
          <a:off x="0" y="0"/>
          <a:ext cx="0" cy="0"/>
          <a:chOff x="0" y="0"/>
          <a:chExt cx="0" cy="0"/>
        </a:xfrm>
      </p:grpSpPr>
      <p:sp>
        <p:nvSpPr>
          <p:cNvPr id="288" name="Google Shape;288;p1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9" name="Google Shape;289;p1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s-CO"/>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1_Diapositiva de título">
  <p:cSld name="1_Diapositiva de título">
    <p:spTree>
      <p:nvGrpSpPr>
        <p:cNvPr id="1" name="Shape 15"/>
        <p:cNvGrpSpPr/>
        <p:nvPr/>
      </p:nvGrpSpPr>
      <p:grpSpPr>
        <a:xfrm>
          <a:off x="0" y="0"/>
          <a:ext cx="0" cy="0"/>
          <a:chOff x="0" y="0"/>
          <a:chExt cx="0" cy="0"/>
        </a:xfrm>
      </p:grpSpPr>
      <p:pic>
        <p:nvPicPr>
          <p:cNvPr id="16" name="Google Shape;16;p17" descr="Interfaz de usuario gráfica, Texto, Aplicación&#10;&#10;Descripción generada automáticamente"/>
          <p:cNvPicPr preferRelativeResize="0"/>
          <p:nvPr/>
        </p:nvPicPr>
        <p:blipFill rotWithShape="1">
          <a:blip r:embed="rId2">
            <a:alphaModFix/>
          </a:blip>
          <a:srcRect/>
          <a:stretch/>
        </p:blipFill>
        <p:spPr>
          <a:xfrm>
            <a:off x="0" y="0"/>
            <a:ext cx="12192000" cy="68580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1_Encabezado de sección">
  <p:cSld name="1_Encabezado de sección">
    <p:spTree>
      <p:nvGrpSpPr>
        <p:cNvPr id="1" name="Shape 17"/>
        <p:cNvGrpSpPr/>
        <p:nvPr/>
      </p:nvGrpSpPr>
      <p:grpSpPr>
        <a:xfrm>
          <a:off x="0" y="0"/>
          <a:ext cx="0" cy="0"/>
          <a:chOff x="0" y="0"/>
          <a:chExt cx="0" cy="0"/>
        </a:xfrm>
      </p:grpSpPr>
      <p:pic>
        <p:nvPicPr>
          <p:cNvPr id="18" name="Google Shape;18;p18"/>
          <p:cNvPicPr preferRelativeResize="0"/>
          <p:nvPr/>
        </p:nvPicPr>
        <p:blipFill rotWithShape="1">
          <a:blip r:embed="rId2">
            <a:alphaModFix/>
          </a:blip>
          <a:srcRect/>
          <a:stretch/>
        </p:blipFill>
        <p:spPr>
          <a:xfrm>
            <a:off x="11027833" y="317431"/>
            <a:ext cx="811391" cy="790587"/>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2_Encabezado de sección">
  <p:cSld name="2_Encabezado de sección">
    <p:spTree>
      <p:nvGrpSpPr>
        <p:cNvPr id="1" name="Shape 19"/>
        <p:cNvGrpSpPr/>
        <p:nvPr/>
      </p:nvGrpSpPr>
      <p:grpSpPr>
        <a:xfrm>
          <a:off x="0" y="0"/>
          <a:ext cx="0" cy="0"/>
          <a:chOff x="0" y="0"/>
          <a:chExt cx="0" cy="0"/>
        </a:xfrm>
      </p:grpSpPr>
      <p:pic>
        <p:nvPicPr>
          <p:cNvPr id="20" name="Google Shape;20;p19" descr="Patrón de fondo&#10;&#10;Descripción generada automáticamente"/>
          <p:cNvPicPr preferRelativeResize="0"/>
          <p:nvPr/>
        </p:nvPicPr>
        <p:blipFill rotWithShape="1">
          <a:blip r:embed="rId2">
            <a:alphaModFix/>
          </a:blip>
          <a:srcRect/>
          <a:stretch/>
        </p:blipFill>
        <p:spPr>
          <a:xfrm>
            <a:off x="0" y="0"/>
            <a:ext cx="12192000" cy="6858000"/>
          </a:xfrm>
          <a:prstGeom prst="rect">
            <a:avLst/>
          </a:prstGeom>
          <a:noFill/>
          <a:ln>
            <a:noFill/>
          </a:ln>
        </p:spPr>
      </p:pic>
      <p:pic>
        <p:nvPicPr>
          <p:cNvPr id="21" name="Google Shape;21;p19"/>
          <p:cNvPicPr preferRelativeResize="0"/>
          <p:nvPr/>
        </p:nvPicPr>
        <p:blipFill rotWithShape="1">
          <a:blip r:embed="rId3">
            <a:alphaModFix/>
          </a:blip>
          <a:srcRect/>
          <a:stretch/>
        </p:blipFill>
        <p:spPr>
          <a:xfrm>
            <a:off x="11054859" y="303050"/>
            <a:ext cx="855785" cy="833982"/>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iseño personalizado">
  <p:cSld name="Diseño personalizado">
    <p:bg>
      <p:bgPr>
        <a:blipFill>
          <a:blip r:embed="rId2">
            <a:alphaModFix/>
          </a:blip>
          <a:stretch>
            <a:fillRect/>
          </a:stretch>
        </a:blipFill>
        <a:effectLst/>
      </p:bgPr>
    </p:bg>
    <p:spTree>
      <p:nvGrpSpPr>
        <p:cNvPr id="1" name="Shape 22"/>
        <p:cNvGrpSpPr/>
        <p:nvPr/>
      </p:nvGrpSpPr>
      <p:grpSpPr>
        <a:xfrm>
          <a:off x="0" y="0"/>
          <a:ext cx="0" cy="0"/>
          <a:chOff x="0" y="0"/>
          <a:chExt cx="0" cy="0"/>
        </a:xfrm>
      </p:grpSpPr>
      <p:sp>
        <p:nvSpPr>
          <p:cNvPr id="23" name="Google Shape;23;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4" name="Google Shape;24;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En blanco" type="blank">
  <p:cSld name="BLANK">
    <p:spTree>
      <p:nvGrpSpPr>
        <p:cNvPr id="1" name="Shape 27"/>
        <p:cNvGrpSpPr/>
        <p:nvPr/>
      </p:nvGrpSpPr>
      <p:grpSpPr>
        <a:xfrm>
          <a:off x="0" y="0"/>
          <a:ext cx="0" cy="0"/>
          <a:chOff x="0" y="0"/>
          <a:chExt cx="0" cy="0"/>
        </a:xfrm>
      </p:grpSpPr>
      <p:sp>
        <p:nvSpPr>
          <p:cNvPr id="28" name="Google Shape;2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 name="Google Shape;2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 name="Google Shape;3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Diapositiva de título" type="title">
  <p:cSld name="TITLE">
    <p:spTree>
      <p:nvGrpSpPr>
        <p:cNvPr id="1" name="Shape 31"/>
        <p:cNvGrpSpPr/>
        <p:nvPr/>
      </p:nvGrpSpPr>
      <p:grpSpPr>
        <a:xfrm>
          <a:off x="0" y="0"/>
          <a:ext cx="0" cy="0"/>
          <a:chOff x="0" y="0"/>
          <a:chExt cx="0" cy="0"/>
        </a:xfrm>
      </p:grpSpPr>
      <p:sp>
        <p:nvSpPr>
          <p:cNvPr id="32" name="Google Shape;32;p22"/>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 name="Google Shape;33;p22"/>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34" name="Google Shape;34;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6" name="Google Shape;36;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ítulo y objetos" type="obj">
  <p:cSld name="OBJECT">
    <p:spTree>
      <p:nvGrpSpPr>
        <p:cNvPr id="1" name="Shape 37"/>
        <p:cNvGrpSpPr/>
        <p:nvPr/>
      </p:nvGrpSpPr>
      <p:grpSpPr>
        <a:xfrm>
          <a:off x="0" y="0"/>
          <a:ext cx="0" cy="0"/>
          <a:chOff x="0" y="0"/>
          <a:chExt cx="0" cy="0"/>
        </a:xfrm>
      </p:grpSpPr>
      <p:sp>
        <p:nvSpPr>
          <p:cNvPr id="38" name="Google Shape;3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9" name="Google Shape;3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1" name="Google Shape;4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2" name="Google Shape;4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Encabezado de sección" type="secHead">
  <p:cSld name="SECTION_HEADER">
    <p:spTree>
      <p:nvGrpSpPr>
        <p:cNvPr id="1" name="Shape 43"/>
        <p:cNvGrpSpPr/>
        <p:nvPr/>
      </p:nvGrpSpPr>
      <p:grpSpPr>
        <a:xfrm>
          <a:off x="0" y="0"/>
          <a:ext cx="0" cy="0"/>
          <a:chOff x="0" y="0"/>
          <a:chExt cx="0" cy="0"/>
        </a:xfrm>
      </p:grpSpPr>
      <p:sp>
        <p:nvSpPr>
          <p:cNvPr id="44" name="Google Shape;4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5" name="Google Shape;4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46" name="Google Shape;4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Dos objetos" type="twoObj">
  <p:cSld name="TWO_OBJECTS">
    <p:spTree>
      <p:nvGrpSpPr>
        <p:cNvPr id="1" name="Shape 49"/>
        <p:cNvGrpSpPr/>
        <p:nvPr/>
      </p:nvGrpSpPr>
      <p:grpSpPr>
        <a:xfrm>
          <a:off x="0" y="0"/>
          <a:ext cx="0" cy="0"/>
          <a:chOff x="0" y="0"/>
          <a:chExt cx="0" cy="0"/>
        </a:xfrm>
      </p:grpSpPr>
      <p:sp>
        <p:nvSpPr>
          <p:cNvPr id="50" name="Google Shape;5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2" name="Google Shape;5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3" name="Google Shape;5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4" name="Google Shape;5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5" name="Google Shape;5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mparación" type="twoTxTwoObj">
  <p:cSld name="TWO_OBJECTS_WITH_TEXT">
    <p:spTree>
      <p:nvGrpSpPr>
        <p:cNvPr id="1" name="Shape 56"/>
        <p:cNvGrpSpPr/>
        <p:nvPr/>
      </p:nvGrpSpPr>
      <p:grpSpPr>
        <a:xfrm>
          <a:off x="0" y="0"/>
          <a:ext cx="0" cy="0"/>
          <a:chOff x="0" y="0"/>
          <a:chExt cx="0" cy="0"/>
        </a:xfrm>
      </p:grpSpPr>
      <p:sp>
        <p:nvSpPr>
          <p:cNvPr id="57" name="Google Shape;5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8" name="Google Shape;5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9" name="Google Shape;5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0" name="Google Shape;6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61" name="Google Shape;6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2" name="Google Shape;6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Solo el título" type="titleOnly">
  <p:cSld name="TITLE_ONLY">
    <p:spTree>
      <p:nvGrpSpPr>
        <p:cNvPr id="1" name="Shape 65"/>
        <p:cNvGrpSpPr/>
        <p:nvPr/>
      </p:nvGrpSpPr>
      <p:grpSpPr>
        <a:xfrm>
          <a:off x="0" y="0"/>
          <a:ext cx="0" cy="0"/>
          <a:chOff x="0" y="0"/>
          <a:chExt cx="0" cy="0"/>
        </a:xfrm>
      </p:grpSpPr>
      <p:sp>
        <p:nvSpPr>
          <p:cNvPr id="66" name="Google Shape;6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8" name="Google Shape;6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9" name="Google Shape;6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Contenido con título" type="objTx">
  <p:cSld name="OBJECT_WITH_CAPTION_TEXT">
    <p:spTree>
      <p:nvGrpSpPr>
        <p:cNvPr id="1" name="Shape 70"/>
        <p:cNvGrpSpPr/>
        <p:nvPr/>
      </p:nvGrpSpPr>
      <p:grpSpPr>
        <a:xfrm>
          <a:off x="0" y="0"/>
          <a:ext cx="0" cy="0"/>
          <a:chOff x="0" y="0"/>
          <a:chExt cx="0" cy="0"/>
        </a:xfrm>
      </p:grpSpPr>
      <p:sp>
        <p:nvSpPr>
          <p:cNvPr id="71" name="Google Shape;71;p28"/>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2" name="Google Shape;72;p28"/>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73" name="Google Shape;73;p28"/>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74" name="Google Shape;74;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5" name="Google Shape;75;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Imagen con título" type="picTx">
  <p:cSld name="PICTURE_WITH_CAPTION_TEXT">
    <p:spTree>
      <p:nvGrpSpPr>
        <p:cNvPr id="1" name="Shape 77"/>
        <p:cNvGrpSpPr/>
        <p:nvPr/>
      </p:nvGrpSpPr>
      <p:grpSpPr>
        <a:xfrm>
          <a:off x="0" y="0"/>
          <a:ext cx="0" cy="0"/>
          <a:chOff x="0" y="0"/>
          <a:chExt cx="0" cy="0"/>
        </a:xfrm>
      </p:grpSpPr>
      <p:sp>
        <p:nvSpPr>
          <p:cNvPr id="78" name="Google Shape;78;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9" name="Google Shape;79;p29"/>
          <p:cNvSpPr>
            <a:spLocks noGrp="1"/>
          </p:cNvSpPr>
          <p:nvPr>
            <p:ph type="pic" idx="2"/>
          </p:nvPr>
        </p:nvSpPr>
        <p:spPr>
          <a:xfrm>
            <a:off x="5183188" y="987425"/>
            <a:ext cx="6172200" cy="4873625"/>
          </a:xfrm>
          <a:prstGeom prst="rect">
            <a:avLst/>
          </a:prstGeom>
          <a:noFill/>
          <a:ln>
            <a:noFill/>
          </a:ln>
        </p:spPr>
        <p:txBody>
          <a:bodyPr/>
          <a:lstStyle/>
          <a:p>
            <a:endParaRPr lang="es-CO"/>
          </a:p>
        </p:txBody>
      </p:sp>
      <p:sp>
        <p:nvSpPr>
          <p:cNvPr id="80" name="Google Shape;80;p29"/>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81" name="Google Shape;81;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ítulo y texto vertical" type="vertTx">
  <p:cSld name="VERTICAL_TEXT">
    <p:spTree>
      <p:nvGrpSpPr>
        <p:cNvPr id="1" name="Shape 84"/>
        <p:cNvGrpSpPr/>
        <p:nvPr/>
      </p:nvGrpSpPr>
      <p:grpSpPr>
        <a:xfrm>
          <a:off x="0" y="0"/>
          <a:ext cx="0" cy="0"/>
          <a:chOff x="0" y="0"/>
          <a:chExt cx="0" cy="0"/>
        </a:xfrm>
      </p:grpSpPr>
      <p:sp>
        <p:nvSpPr>
          <p:cNvPr id="85" name="Google Shape;85;p3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6" name="Google Shape;86;p30"/>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7" name="Google Shape;87;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8" name="Google Shape;88;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9" name="Google Shape;89;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ítulo vertical y texto" type="vertTitleAndTx">
  <p:cSld name="VERTICAL_TITLE_AND_VERTICAL_TEXT">
    <p:spTree>
      <p:nvGrpSpPr>
        <p:cNvPr id="1" name="Shape 90"/>
        <p:cNvGrpSpPr/>
        <p:nvPr/>
      </p:nvGrpSpPr>
      <p:grpSpPr>
        <a:xfrm>
          <a:off x="0" y="0"/>
          <a:ext cx="0" cy="0"/>
          <a:chOff x="0" y="0"/>
          <a:chExt cx="0" cy="0"/>
        </a:xfrm>
      </p:grpSpPr>
      <p:sp>
        <p:nvSpPr>
          <p:cNvPr id="91" name="Google Shape;91;p31"/>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2" name="Google Shape;92;p31"/>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3" name="Google Shape;93;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4" name="Google Shape;94;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5" name="Google Shape;95;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MX"/>
              <a:t>‹Nº›</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image" Target="../media/image10.png"/></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3.xml"/><Relationship Id="rId5" Type="http://schemas.openxmlformats.org/officeDocument/2006/relationships/image" Target="../media/image15.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4.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
          <p:cNvSpPr txBox="1"/>
          <p:nvPr/>
        </p:nvSpPr>
        <p:spPr>
          <a:xfrm>
            <a:off x="995424" y="2551825"/>
            <a:ext cx="5372400" cy="1616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MX" sz="3300" b="1">
                <a:solidFill>
                  <a:srgbClr val="3F3F3F"/>
                </a:solidFill>
                <a:latin typeface="Work Sans"/>
                <a:ea typeface="Work Sans"/>
                <a:cs typeface="Work Sans"/>
                <a:sym typeface="Work Sans"/>
              </a:rPr>
              <a:t>Zona Asistida para Animales en Protección</a:t>
            </a:r>
            <a:endParaRPr sz="3300" b="1">
              <a:solidFill>
                <a:srgbClr val="3F3F3F"/>
              </a:solidFill>
              <a:latin typeface="Work Sans"/>
              <a:ea typeface="Work Sans"/>
              <a:cs typeface="Work Sans"/>
              <a:sym typeface="Work Sans"/>
            </a:endParaRPr>
          </a:p>
          <a:p>
            <a:pPr marL="0" marR="0" lvl="0" indent="0" algn="l" rtl="0">
              <a:spcBef>
                <a:spcPts val="0"/>
              </a:spcBef>
              <a:spcAft>
                <a:spcPts val="0"/>
              </a:spcAft>
              <a:buNone/>
            </a:pPr>
            <a:r>
              <a:rPr lang="es-MX" sz="3300" b="1">
                <a:solidFill>
                  <a:srgbClr val="3F3F3F"/>
                </a:solidFill>
                <a:latin typeface="Work Sans"/>
                <a:ea typeface="Work Sans"/>
                <a:cs typeface="Work Sans"/>
                <a:sym typeface="Work Sans"/>
              </a:rPr>
              <a:t>ZAAP</a:t>
            </a:r>
            <a:endParaRPr sz="3300" b="1">
              <a:solidFill>
                <a:srgbClr val="3F3F3F"/>
              </a:solidFill>
              <a:latin typeface="Work Sans"/>
              <a:ea typeface="Work Sans"/>
              <a:cs typeface="Work Sans"/>
              <a:sym typeface="Work Sans"/>
            </a:endParaRPr>
          </a:p>
        </p:txBody>
      </p:sp>
      <p:pic>
        <p:nvPicPr>
          <p:cNvPr id="102" name="Google Shape;102;p1"/>
          <p:cNvPicPr preferRelativeResize="0"/>
          <p:nvPr/>
        </p:nvPicPr>
        <p:blipFill>
          <a:blip r:embed="rId3">
            <a:alphaModFix/>
          </a:blip>
          <a:stretch>
            <a:fillRect/>
          </a:stretch>
        </p:blipFill>
        <p:spPr>
          <a:xfrm>
            <a:off x="6867000" y="1534075"/>
            <a:ext cx="3659550" cy="1245500"/>
          </a:xfrm>
          <a:prstGeom prst="rect">
            <a:avLst/>
          </a:prstGeom>
          <a:noFill/>
          <a:ln>
            <a:noFill/>
          </a:ln>
        </p:spPr>
      </p:pic>
      <p:pic>
        <p:nvPicPr>
          <p:cNvPr id="103" name="Google Shape;103;p1"/>
          <p:cNvPicPr preferRelativeResize="0"/>
          <p:nvPr/>
        </p:nvPicPr>
        <p:blipFill rotWithShape="1">
          <a:blip r:embed="rId4">
            <a:alphaModFix/>
          </a:blip>
          <a:srcRect t="1341"/>
          <a:stretch/>
        </p:blipFill>
        <p:spPr>
          <a:xfrm>
            <a:off x="7136463" y="3117075"/>
            <a:ext cx="3120626" cy="27365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7"/>
        <p:cNvGrpSpPr/>
        <p:nvPr/>
      </p:nvGrpSpPr>
      <p:grpSpPr>
        <a:xfrm>
          <a:off x="0" y="0"/>
          <a:ext cx="0" cy="0"/>
          <a:chOff x="0" y="0"/>
          <a:chExt cx="0" cy="0"/>
        </a:xfrm>
      </p:grpSpPr>
      <p:sp>
        <p:nvSpPr>
          <p:cNvPr id="108" name="Google Shape;108;p2"/>
          <p:cNvSpPr txBox="1"/>
          <p:nvPr/>
        </p:nvSpPr>
        <p:spPr>
          <a:xfrm>
            <a:off x="3302712" y="1847968"/>
            <a:ext cx="5687700" cy="10929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s-MX" sz="6500" b="1">
                <a:solidFill>
                  <a:schemeClr val="lt1"/>
                </a:solidFill>
                <a:latin typeface="Work Sans"/>
                <a:ea typeface="Work Sans"/>
                <a:cs typeface="Work Sans"/>
                <a:sym typeface="Work Sans"/>
              </a:rPr>
              <a:t>ZAAP</a:t>
            </a:r>
            <a:endParaRPr b="1"/>
          </a:p>
        </p:txBody>
      </p:sp>
      <p:cxnSp>
        <p:nvCxnSpPr>
          <p:cNvPr id="109" name="Google Shape;109;p2"/>
          <p:cNvCxnSpPr/>
          <p:nvPr/>
        </p:nvCxnSpPr>
        <p:spPr>
          <a:xfrm>
            <a:off x="5227899" y="3321934"/>
            <a:ext cx="1736203" cy="0"/>
          </a:xfrm>
          <a:prstGeom prst="straightConnector1">
            <a:avLst/>
          </a:prstGeom>
          <a:noFill/>
          <a:ln w="9525" cap="flat" cmpd="sng">
            <a:solidFill>
              <a:schemeClr val="lt1"/>
            </a:solidFill>
            <a:prstDash val="solid"/>
            <a:miter lim="800000"/>
            <a:headEnd type="none" w="sm" len="sm"/>
            <a:tailEnd type="none" w="sm" len="sm"/>
          </a:ln>
        </p:spPr>
      </p:cxnSp>
      <p:sp>
        <p:nvSpPr>
          <p:cNvPr id="110" name="Google Shape;110;p2"/>
          <p:cNvSpPr txBox="1"/>
          <p:nvPr/>
        </p:nvSpPr>
        <p:spPr>
          <a:xfrm>
            <a:off x="4168816" y="3463724"/>
            <a:ext cx="3854400" cy="33851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s-MX" sz="1600" dirty="0">
                <a:solidFill>
                  <a:schemeClr val="lt1"/>
                </a:solidFill>
                <a:latin typeface="Work Sans Light"/>
                <a:ea typeface="Work Sans Light"/>
                <a:cs typeface="Work Sans Light"/>
                <a:sym typeface="Work Sans Light"/>
              </a:rPr>
              <a:t>Paula Andrea Forero Borda</a:t>
            </a:r>
            <a:endParaRPr sz="1600" dirty="0">
              <a:solidFill>
                <a:schemeClr val="lt1"/>
              </a:solidFill>
              <a:latin typeface="Work Sans Light"/>
              <a:ea typeface="Work Sans Light"/>
              <a:cs typeface="Work Sans Light"/>
              <a:sym typeface="Work Sans Light"/>
            </a:endParaRPr>
          </a:p>
        </p:txBody>
      </p:sp>
      <p:sp>
        <p:nvSpPr>
          <p:cNvPr id="111" name="Google Shape;111;p2"/>
          <p:cNvSpPr txBox="1"/>
          <p:nvPr/>
        </p:nvSpPr>
        <p:spPr>
          <a:xfrm>
            <a:off x="1068888" y="5279998"/>
            <a:ext cx="10054224" cy="107721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s-MX" sz="1600" b="1">
                <a:solidFill>
                  <a:schemeClr val="lt1"/>
                </a:solidFill>
                <a:latin typeface="Work Sans Light"/>
                <a:ea typeface="Work Sans Light"/>
                <a:cs typeface="Work Sans Light"/>
                <a:sym typeface="Work Sans Light"/>
              </a:rPr>
              <a:t>Servicio Nacional de Aprendizaje –SENA, Centro de Electricidad Electrónica y Telecomunicaciones</a:t>
            </a:r>
            <a:endParaRPr/>
          </a:p>
          <a:p>
            <a:pPr marL="0" marR="0" lvl="0" indent="0" algn="ctr" rtl="0">
              <a:spcBef>
                <a:spcPts val="0"/>
              </a:spcBef>
              <a:spcAft>
                <a:spcPts val="0"/>
              </a:spcAft>
              <a:buNone/>
            </a:pPr>
            <a:r>
              <a:rPr lang="es-MX" sz="1600" b="1">
                <a:solidFill>
                  <a:schemeClr val="lt1"/>
                </a:solidFill>
                <a:latin typeface="Work Sans Light"/>
                <a:ea typeface="Work Sans Light"/>
                <a:cs typeface="Work Sans Light"/>
                <a:sym typeface="Work Sans Light"/>
              </a:rPr>
              <a:t>Técnico en Programación de Software - TPS, Primer Trimestre</a:t>
            </a:r>
            <a:endParaRPr/>
          </a:p>
          <a:p>
            <a:pPr marL="0" marR="0" lvl="0" indent="0" algn="ctr" rtl="0">
              <a:spcBef>
                <a:spcPts val="0"/>
              </a:spcBef>
              <a:spcAft>
                <a:spcPts val="0"/>
              </a:spcAft>
              <a:buNone/>
            </a:pPr>
            <a:r>
              <a:rPr lang="es-MX" sz="1600" b="1">
                <a:solidFill>
                  <a:schemeClr val="lt1"/>
                </a:solidFill>
                <a:latin typeface="Work Sans Light"/>
                <a:ea typeface="Work Sans Light"/>
                <a:cs typeface="Work Sans Light"/>
                <a:sym typeface="Work Sans Light"/>
              </a:rPr>
              <a:t>Instructor Albeiro Ramos</a:t>
            </a:r>
            <a:endParaRPr/>
          </a:p>
          <a:p>
            <a:pPr marL="0" marR="0" lvl="0" indent="0" algn="ctr" rtl="0">
              <a:spcBef>
                <a:spcPts val="0"/>
              </a:spcBef>
              <a:spcAft>
                <a:spcPts val="0"/>
              </a:spcAft>
              <a:buNone/>
            </a:pPr>
            <a:r>
              <a:rPr lang="es-MX" sz="1600" b="1">
                <a:solidFill>
                  <a:schemeClr val="lt1"/>
                </a:solidFill>
                <a:latin typeface="Work Sans Light"/>
                <a:ea typeface="Work Sans Light"/>
                <a:cs typeface="Work Sans Light"/>
                <a:sym typeface="Work Sans Light"/>
              </a:rPr>
              <a:t>Bogotá, 25 de marzo de 2023</a:t>
            </a:r>
            <a:endParaRPr sz="1600" b="1">
              <a:solidFill>
                <a:schemeClr val="lt1"/>
              </a:solidFill>
              <a:latin typeface="Work Sans Light"/>
              <a:ea typeface="Work Sans Light"/>
              <a:cs typeface="Work Sans Light"/>
              <a:sym typeface="Work Sans Ligh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15"/>
        <p:cNvGrpSpPr/>
        <p:nvPr/>
      </p:nvGrpSpPr>
      <p:grpSpPr>
        <a:xfrm>
          <a:off x="0" y="0"/>
          <a:ext cx="0" cy="0"/>
          <a:chOff x="0" y="0"/>
          <a:chExt cx="0" cy="0"/>
        </a:xfrm>
      </p:grpSpPr>
      <p:sp>
        <p:nvSpPr>
          <p:cNvPr id="116" name="Google Shape;116;p3"/>
          <p:cNvSpPr/>
          <p:nvPr/>
        </p:nvSpPr>
        <p:spPr>
          <a:xfrm>
            <a:off x="1174343" y="989802"/>
            <a:ext cx="2940000" cy="3471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17" name="Google Shape;117;p3"/>
          <p:cNvSpPr txBox="1"/>
          <p:nvPr/>
        </p:nvSpPr>
        <p:spPr>
          <a:xfrm>
            <a:off x="1199395" y="698024"/>
            <a:ext cx="3514800" cy="6765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3600"/>
              <a:buFont typeface="Work Sans Light"/>
              <a:buNone/>
            </a:pPr>
            <a:r>
              <a:rPr lang="es-MX" sz="3600">
                <a:solidFill>
                  <a:srgbClr val="38AA00"/>
                </a:solidFill>
                <a:latin typeface="Work Sans Light"/>
                <a:ea typeface="Work Sans Light"/>
                <a:cs typeface="Work Sans Light"/>
                <a:sym typeface="Work Sans Light"/>
              </a:rPr>
              <a:t>Introducción</a:t>
            </a:r>
            <a:endParaRPr/>
          </a:p>
        </p:txBody>
      </p:sp>
      <p:sp>
        <p:nvSpPr>
          <p:cNvPr id="118" name="Google Shape;118;p3"/>
          <p:cNvSpPr txBox="1"/>
          <p:nvPr/>
        </p:nvSpPr>
        <p:spPr>
          <a:xfrm>
            <a:off x="1174343" y="1954770"/>
            <a:ext cx="3854400" cy="2948459"/>
          </a:xfrm>
          <a:prstGeom prst="rect">
            <a:avLst/>
          </a:prstGeom>
          <a:noFill/>
          <a:ln>
            <a:noFill/>
          </a:ln>
        </p:spPr>
        <p:txBody>
          <a:bodyPr spcFirstLastPara="1" wrap="square" lIns="91425" tIns="45700" rIns="91425" bIns="45700" anchor="t" anchorCtr="0">
            <a:spAutoFit/>
          </a:bodyPr>
          <a:lstStyle/>
          <a:p>
            <a:pPr marL="0" lvl="0" indent="0" algn="just" rtl="0">
              <a:lnSpc>
                <a:spcPct val="115000"/>
              </a:lnSpc>
              <a:spcBef>
                <a:spcPts val="1200"/>
              </a:spcBef>
              <a:spcAft>
                <a:spcPts val="0"/>
              </a:spcAft>
              <a:buSzPts val="1100"/>
              <a:buNone/>
            </a:pPr>
            <a:r>
              <a:rPr lang="es-MX" sz="1600" dirty="0">
                <a:solidFill>
                  <a:schemeClr val="dk1"/>
                </a:solidFill>
                <a:latin typeface="Work Sans Light"/>
                <a:ea typeface="Work Sans Light"/>
                <a:cs typeface="Work Sans Light"/>
                <a:sym typeface="Work Sans Light"/>
              </a:rPr>
              <a:t>Este proyecto surge como respuesta a la necesidad de digitalizar los procesos de la Fundación Animalista IKIGAI en Bogotá dedicada al rescate y protección de animales de la calle.</a:t>
            </a:r>
            <a:endParaRPr sz="1600" dirty="0">
              <a:solidFill>
                <a:schemeClr val="dk1"/>
              </a:solidFill>
              <a:latin typeface="Work Sans Light"/>
              <a:ea typeface="Work Sans Light"/>
              <a:cs typeface="Work Sans Light"/>
              <a:sym typeface="Work Sans Light"/>
            </a:endParaRPr>
          </a:p>
          <a:p>
            <a:pPr marL="0" lvl="0" indent="0" algn="just" rtl="0">
              <a:lnSpc>
                <a:spcPct val="115000"/>
              </a:lnSpc>
              <a:spcBef>
                <a:spcPts val="1200"/>
              </a:spcBef>
              <a:spcAft>
                <a:spcPts val="0"/>
              </a:spcAft>
              <a:buSzPts val="1100"/>
              <a:buNone/>
            </a:pPr>
            <a:r>
              <a:rPr lang="es-MX" sz="1600" dirty="0">
                <a:solidFill>
                  <a:schemeClr val="dk1"/>
                </a:solidFill>
                <a:latin typeface="Work Sans Light"/>
                <a:ea typeface="Work Sans Light"/>
                <a:cs typeface="Work Sans Light"/>
                <a:sym typeface="Work Sans Light"/>
              </a:rPr>
              <a:t>Actualmente, la gestión se realiza de forma manual, lo que dificulta el control de </a:t>
            </a:r>
            <a:r>
              <a:rPr lang="es-MX" sz="1600" u="sng" dirty="0">
                <a:solidFill>
                  <a:schemeClr val="dk1"/>
                </a:solidFill>
                <a:latin typeface="Work Sans Light"/>
                <a:ea typeface="Work Sans Light"/>
                <a:cs typeface="Work Sans Light"/>
                <a:sym typeface="Work Sans Light"/>
              </a:rPr>
              <a:t>rescates</a:t>
            </a:r>
            <a:r>
              <a:rPr lang="es-MX" sz="1600" dirty="0">
                <a:solidFill>
                  <a:schemeClr val="dk1"/>
                </a:solidFill>
                <a:latin typeface="Work Sans Light"/>
                <a:ea typeface="Work Sans Light"/>
                <a:cs typeface="Work Sans Light"/>
                <a:sym typeface="Work Sans Light"/>
              </a:rPr>
              <a:t>, </a:t>
            </a:r>
            <a:r>
              <a:rPr lang="es-MX" sz="1600" u="sng" dirty="0">
                <a:solidFill>
                  <a:schemeClr val="dk1"/>
                </a:solidFill>
                <a:latin typeface="Work Sans Light"/>
                <a:ea typeface="Work Sans Light"/>
                <a:cs typeface="Work Sans Light"/>
                <a:sym typeface="Work Sans Light"/>
              </a:rPr>
              <a:t>adopciones</a:t>
            </a:r>
            <a:r>
              <a:rPr lang="es-MX" sz="1600" dirty="0">
                <a:solidFill>
                  <a:schemeClr val="dk1"/>
                </a:solidFill>
                <a:latin typeface="Work Sans Light"/>
                <a:ea typeface="Work Sans Light"/>
                <a:cs typeface="Work Sans Light"/>
                <a:sym typeface="Work Sans Light"/>
              </a:rPr>
              <a:t>, </a:t>
            </a:r>
            <a:r>
              <a:rPr lang="es-MX" sz="1600" u="sng" dirty="0">
                <a:solidFill>
                  <a:schemeClr val="dk1"/>
                </a:solidFill>
                <a:latin typeface="Work Sans Light"/>
                <a:ea typeface="Work Sans Light"/>
                <a:cs typeface="Work Sans Light"/>
                <a:sym typeface="Work Sans Light"/>
              </a:rPr>
              <a:t>voluntariado</a:t>
            </a:r>
            <a:r>
              <a:rPr lang="es-MX" sz="1600" dirty="0">
                <a:solidFill>
                  <a:schemeClr val="dk1"/>
                </a:solidFill>
                <a:latin typeface="Work Sans Light"/>
                <a:ea typeface="Work Sans Light"/>
                <a:cs typeface="Work Sans Light"/>
                <a:sym typeface="Work Sans Light"/>
              </a:rPr>
              <a:t> y </a:t>
            </a:r>
            <a:r>
              <a:rPr lang="es-MX" sz="1600" u="sng" dirty="0">
                <a:solidFill>
                  <a:schemeClr val="dk1"/>
                </a:solidFill>
                <a:latin typeface="Work Sans Light"/>
                <a:ea typeface="Work Sans Light"/>
                <a:cs typeface="Work Sans Light"/>
                <a:sym typeface="Work Sans Light"/>
              </a:rPr>
              <a:t>donaciones</a:t>
            </a:r>
            <a:r>
              <a:rPr lang="es-MX" sz="1600" dirty="0">
                <a:solidFill>
                  <a:schemeClr val="dk1"/>
                </a:solidFill>
                <a:latin typeface="Work Sans Light"/>
                <a:ea typeface="Work Sans Light"/>
                <a:cs typeface="Work Sans Light"/>
                <a:sym typeface="Work Sans Light"/>
              </a:rPr>
              <a:t>.</a:t>
            </a:r>
            <a:endParaRPr sz="1600" dirty="0">
              <a:solidFill>
                <a:schemeClr val="dk1"/>
              </a:solidFill>
              <a:latin typeface="Work Sans Light"/>
              <a:ea typeface="Work Sans Light"/>
              <a:cs typeface="Work Sans Light"/>
              <a:sym typeface="Work Sans Light"/>
            </a:endParaRPr>
          </a:p>
        </p:txBody>
      </p:sp>
      <p:pic>
        <p:nvPicPr>
          <p:cNvPr id="119" name="Google Shape;119;p3"/>
          <p:cNvPicPr preferRelativeResize="0"/>
          <p:nvPr/>
        </p:nvPicPr>
        <p:blipFill>
          <a:blip r:embed="rId4">
            <a:alphaModFix/>
          </a:blip>
          <a:stretch>
            <a:fillRect/>
          </a:stretch>
        </p:blipFill>
        <p:spPr>
          <a:xfrm>
            <a:off x="5566025" y="1714975"/>
            <a:ext cx="5823750" cy="379360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23"/>
        <p:cNvGrpSpPr/>
        <p:nvPr/>
      </p:nvGrpSpPr>
      <p:grpSpPr>
        <a:xfrm>
          <a:off x="0" y="0"/>
          <a:ext cx="0" cy="0"/>
          <a:chOff x="0" y="0"/>
          <a:chExt cx="0" cy="0"/>
        </a:xfrm>
      </p:grpSpPr>
      <p:sp>
        <p:nvSpPr>
          <p:cNvPr id="124" name="Google Shape;124;p4"/>
          <p:cNvSpPr txBox="1"/>
          <p:nvPr/>
        </p:nvSpPr>
        <p:spPr>
          <a:xfrm>
            <a:off x="456236" y="416689"/>
            <a:ext cx="10515600" cy="741563"/>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chemeClr val="lt1"/>
              </a:buClr>
              <a:buSzPts val="4400"/>
              <a:buFont typeface="Work Sans Medium"/>
              <a:buNone/>
            </a:pPr>
            <a:r>
              <a:rPr lang="es-MX" sz="4400">
                <a:solidFill>
                  <a:schemeClr val="lt1"/>
                </a:solidFill>
                <a:latin typeface="Work Sans Medium"/>
                <a:ea typeface="Work Sans Medium"/>
                <a:cs typeface="Work Sans Medium"/>
                <a:sym typeface="Work Sans Medium"/>
              </a:rPr>
              <a:t>Nombre del Proyecto</a:t>
            </a:r>
            <a:endParaRPr/>
          </a:p>
        </p:txBody>
      </p:sp>
      <p:sp>
        <p:nvSpPr>
          <p:cNvPr id="125" name="Google Shape;125;p4"/>
          <p:cNvSpPr txBox="1"/>
          <p:nvPr/>
        </p:nvSpPr>
        <p:spPr>
          <a:xfrm>
            <a:off x="6653025" y="2489550"/>
            <a:ext cx="4547400" cy="3540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MX" sz="3200" b="1">
                <a:solidFill>
                  <a:schemeClr val="dk1"/>
                </a:solidFill>
                <a:latin typeface="Work Sans"/>
                <a:ea typeface="Work Sans"/>
                <a:cs typeface="Work Sans"/>
                <a:sym typeface="Work Sans"/>
              </a:rPr>
              <a:t>Problema</a:t>
            </a:r>
            <a:endParaRPr b="1"/>
          </a:p>
          <a:p>
            <a:pPr marL="0" marR="0" lvl="0" indent="0" algn="l" rtl="0">
              <a:spcBef>
                <a:spcPts val="0"/>
              </a:spcBef>
              <a:spcAft>
                <a:spcPts val="0"/>
              </a:spcAft>
              <a:buNone/>
            </a:pPr>
            <a:r>
              <a:rPr lang="es-MX" sz="3200" b="1">
                <a:solidFill>
                  <a:schemeClr val="dk1"/>
                </a:solidFill>
                <a:latin typeface="Work Sans"/>
                <a:ea typeface="Work Sans"/>
                <a:cs typeface="Work Sans"/>
                <a:sym typeface="Work Sans"/>
              </a:rPr>
              <a:t>Objetivos</a:t>
            </a:r>
            <a:endParaRPr b="1"/>
          </a:p>
          <a:p>
            <a:pPr marL="0" marR="0" lvl="0" indent="0" algn="l" rtl="0">
              <a:spcBef>
                <a:spcPts val="0"/>
              </a:spcBef>
              <a:spcAft>
                <a:spcPts val="0"/>
              </a:spcAft>
              <a:buNone/>
            </a:pPr>
            <a:r>
              <a:rPr lang="es-MX" sz="3200" b="1">
                <a:solidFill>
                  <a:schemeClr val="dk1"/>
                </a:solidFill>
                <a:latin typeface="Work Sans"/>
                <a:ea typeface="Work Sans"/>
                <a:cs typeface="Work Sans"/>
                <a:sym typeface="Work Sans"/>
              </a:rPr>
              <a:t>Justificación</a:t>
            </a:r>
            <a:endParaRPr b="1"/>
          </a:p>
          <a:p>
            <a:pPr marL="0" marR="0" lvl="0" indent="0" algn="l" rtl="0">
              <a:spcBef>
                <a:spcPts val="0"/>
              </a:spcBef>
              <a:spcAft>
                <a:spcPts val="0"/>
              </a:spcAft>
              <a:buNone/>
            </a:pPr>
            <a:r>
              <a:rPr lang="es-MX" sz="3200" b="1">
                <a:solidFill>
                  <a:schemeClr val="dk1"/>
                </a:solidFill>
                <a:latin typeface="Work Sans"/>
                <a:ea typeface="Work Sans"/>
                <a:cs typeface="Work Sans"/>
                <a:sym typeface="Work Sans"/>
              </a:rPr>
              <a:t>Alcance</a:t>
            </a:r>
            <a:endParaRPr b="1"/>
          </a:p>
          <a:p>
            <a:pPr marL="0" marR="0" lvl="0" indent="0" algn="l" rtl="0">
              <a:spcBef>
                <a:spcPts val="0"/>
              </a:spcBef>
              <a:spcAft>
                <a:spcPts val="0"/>
              </a:spcAft>
              <a:buNone/>
            </a:pPr>
            <a:r>
              <a:rPr lang="es-MX" sz="3200" b="1">
                <a:solidFill>
                  <a:schemeClr val="dk1"/>
                </a:solidFill>
                <a:latin typeface="Work Sans"/>
                <a:ea typeface="Work Sans"/>
                <a:cs typeface="Work Sans"/>
                <a:sym typeface="Work Sans"/>
              </a:rPr>
              <a:t>Delimitación</a:t>
            </a:r>
            <a:endParaRPr b="1"/>
          </a:p>
          <a:p>
            <a:pPr marL="0" marR="0" lvl="0" indent="0" algn="l" rtl="0">
              <a:spcBef>
                <a:spcPts val="0"/>
              </a:spcBef>
              <a:spcAft>
                <a:spcPts val="0"/>
              </a:spcAft>
              <a:buNone/>
            </a:pPr>
            <a:r>
              <a:rPr lang="es-MX" sz="3200" b="1">
                <a:solidFill>
                  <a:schemeClr val="dk1"/>
                </a:solidFill>
                <a:latin typeface="Work Sans"/>
                <a:ea typeface="Work Sans"/>
                <a:cs typeface="Work Sans"/>
                <a:sym typeface="Work Sans"/>
              </a:rPr>
              <a:t>Entregables Trimestre</a:t>
            </a:r>
            <a:endParaRPr b="1"/>
          </a:p>
        </p:txBody>
      </p:sp>
      <p:pic>
        <p:nvPicPr>
          <p:cNvPr id="126" name="Google Shape;126;p4"/>
          <p:cNvPicPr preferRelativeResize="0"/>
          <p:nvPr/>
        </p:nvPicPr>
        <p:blipFill rotWithShape="1">
          <a:blip r:embed="rId4">
            <a:alphaModFix/>
          </a:blip>
          <a:srcRect t="1341"/>
          <a:stretch/>
        </p:blipFill>
        <p:spPr>
          <a:xfrm>
            <a:off x="1940238" y="3309713"/>
            <a:ext cx="3120626" cy="2736550"/>
          </a:xfrm>
          <a:prstGeom prst="rect">
            <a:avLst/>
          </a:prstGeom>
          <a:noFill/>
          <a:ln>
            <a:noFill/>
          </a:ln>
        </p:spPr>
      </p:pic>
      <p:pic>
        <p:nvPicPr>
          <p:cNvPr id="127" name="Google Shape;127;p4"/>
          <p:cNvPicPr preferRelativeResize="0"/>
          <p:nvPr/>
        </p:nvPicPr>
        <p:blipFill>
          <a:blip r:embed="rId5">
            <a:alphaModFix/>
          </a:blip>
          <a:stretch>
            <a:fillRect/>
          </a:stretch>
        </p:blipFill>
        <p:spPr>
          <a:xfrm>
            <a:off x="1443025" y="1445627"/>
            <a:ext cx="3819525" cy="1362075"/>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132" name="Google Shape;132;p5"/>
          <p:cNvSpPr txBox="1">
            <a:spLocks noGrp="1"/>
          </p:cNvSpPr>
          <p:nvPr>
            <p:ph type="title"/>
          </p:nvPr>
        </p:nvSpPr>
        <p:spPr>
          <a:xfrm>
            <a:off x="456236" y="110481"/>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4400"/>
              <a:buFont typeface="Work Sans Medium"/>
              <a:buNone/>
            </a:pPr>
            <a:r>
              <a:rPr lang="es-MX">
                <a:solidFill>
                  <a:schemeClr val="lt1"/>
                </a:solidFill>
                <a:latin typeface="Work Sans Medium"/>
                <a:ea typeface="Work Sans Medium"/>
                <a:cs typeface="Work Sans Medium"/>
                <a:sym typeface="Work Sans Medium"/>
              </a:rPr>
              <a:t>Problema</a:t>
            </a:r>
            <a:endParaRPr/>
          </a:p>
        </p:txBody>
      </p:sp>
      <p:sp>
        <p:nvSpPr>
          <p:cNvPr id="133" name="Google Shape;133;p5"/>
          <p:cNvSpPr txBox="1"/>
          <p:nvPr/>
        </p:nvSpPr>
        <p:spPr>
          <a:xfrm>
            <a:off x="372303" y="2342346"/>
            <a:ext cx="11447400" cy="3847167"/>
          </a:xfrm>
          <a:prstGeom prst="rect">
            <a:avLst/>
          </a:prstGeom>
          <a:noFill/>
          <a:ln>
            <a:noFill/>
          </a:ln>
        </p:spPr>
        <p:txBody>
          <a:bodyPr spcFirstLastPara="1" wrap="square" lIns="91425" tIns="45700" rIns="91425" bIns="45700" anchor="t" anchorCtr="0">
            <a:spAutoFit/>
          </a:bodyPr>
          <a:lstStyle/>
          <a:p>
            <a:pPr marL="0" lvl="0" indent="0" algn="l" rtl="0">
              <a:lnSpc>
                <a:spcPct val="115000"/>
              </a:lnSpc>
              <a:spcBef>
                <a:spcPts val="1200"/>
              </a:spcBef>
              <a:spcAft>
                <a:spcPts val="0"/>
              </a:spcAft>
              <a:buClr>
                <a:schemeClr val="dk1"/>
              </a:buClr>
              <a:buSzPts val="1100"/>
              <a:buFont typeface="Arial"/>
              <a:buNone/>
            </a:pPr>
            <a:r>
              <a:rPr lang="es-MX" sz="1600" dirty="0">
                <a:solidFill>
                  <a:schemeClr val="dk1"/>
                </a:solidFill>
                <a:latin typeface="Work Sans Light"/>
                <a:ea typeface="Work Sans Light"/>
                <a:cs typeface="Work Sans Light"/>
                <a:sym typeface="Work Sans Light"/>
              </a:rPr>
              <a:t>La fundación de protección animal en Bogotá enfrenta problemas de:</a:t>
            </a:r>
            <a:endParaRPr sz="1600" dirty="0">
              <a:solidFill>
                <a:schemeClr val="dk1"/>
              </a:solidFill>
              <a:latin typeface="Work Sans Light"/>
              <a:ea typeface="Work Sans Light"/>
              <a:cs typeface="Work Sans Light"/>
              <a:sym typeface="Work Sans Light"/>
            </a:endParaRPr>
          </a:p>
          <a:p>
            <a:pPr marL="457200" lvl="0" indent="-298450" algn="l" rtl="0">
              <a:lnSpc>
                <a:spcPct val="115000"/>
              </a:lnSpc>
              <a:spcBef>
                <a:spcPts val="1200"/>
              </a:spcBef>
              <a:spcAft>
                <a:spcPts val="0"/>
              </a:spcAft>
              <a:buClr>
                <a:schemeClr val="dk1"/>
              </a:buClr>
              <a:buSzPts val="1100"/>
              <a:buChar char="●"/>
            </a:pPr>
            <a:r>
              <a:rPr lang="es-MX" sz="1600" dirty="0">
                <a:solidFill>
                  <a:schemeClr val="dk1"/>
                </a:solidFill>
                <a:latin typeface="Work Sans Light"/>
                <a:ea typeface="Work Sans Light"/>
                <a:cs typeface="Work Sans Light"/>
                <a:sym typeface="Work Sans Light"/>
              </a:rPr>
              <a:t>Gestión manual de procesos de </a:t>
            </a:r>
            <a:r>
              <a:rPr lang="es-MX" sz="1600" u="sng" dirty="0">
                <a:solidFill>
                  <a:schemeClr val="dk1"/>
                </a:solidFill>
                <a:latin typeface="Work Sans Light"/>
                <a:ea typeface="Work Sans Light"/>
                <a:cs typeface="Work Sans Light"/>
                <a:sym typeface="Work Sans Light"/>
              </a:rPr>
              <a:t>rescate</a:t>
            </a:r>
            <a:r>
              <a:rPr lang="es-MX" sz="1600" dirty="0">
                <a:solidFill>
                  <a:schemeClr val="dk1"/>
                </a:solidFill>
                <a:latin typeface="Work Sans Light"/>
                <a:ea typeface="Work Sans Light"/>
                <a:cs typeface="Work Sans Light"/>
                <a:sym typeface="Work Sans Light"/>
              </a:rPr>
              <a:t> y </a:t>
            </a:r>
            <a:r>
              <a:rPr lang="es-MX" sz="1600" u="sng" dirty="0">
                <a:solidFill>
                  <a:schemeClr val="dk1"/>
                </a:solidFill>
                <a:latin typeface="Work Sans Light"/>
                <a:ea typeface="Work Sans Light"/>
                <a:cs typeface="Work Sans Light"/>
                <a:sym typeface="Work Sans Light"/>
              </a:rPr>
              <a:t>adopción</a:t>
            </a:r>
            <a:r>
              <a:rPr lang="es-MX" sz="1600" dirty="0">
                <a:solidFill>
                  <a:schemeClr val="dk1"/>
                </a:solidFill>
                <a:latin typeface="Work Sans Light"/>
                <a:ea typeface="Work Sans Light"/>
                <a:cs typeface="Work Sans Light"/>
                <a:sym typeface="Work Sans Light"/>
              </a:rPr>
              <a:t>.</a:t>
            </a:r>
            <a:br>
              <a:rPr lang="es-MX" sz="1600" dirty="0">
                <a:solidFill>
                  <a:schemeClr val="dk1"/>
                </a:solidFill>
                <a:latin typeface="Work Sans Light"/>
                <a:ea typeface="Work Sans Light"/>
                <a:cs typeface="Work Sans Light"/>
                <a:sym typeface="Work Sans Light"/>
              </a:rPr>
            </a:br>
            <a:endParaRPr sz="1600" dirty="0">
              <a:solidFill>
                <a:schemeClr val="dk1"/>
              </a:solidFill>
              <a:latin typeface="Work Sans Light"/>
              <a:ea typeface="Work Sans Light"/>
              <a:cs typeface="Work Sans Light"/>
              <a:sym typeface="Work Sans Light"/>
            </a:endParaRPr>
          </a:p>
          <a:p>
            <a:pPr marL="457200" lvl="0" indent="-298450" algn="l" rtl="0">
              <a:lnSpc>
                <a:spcPct val="115000"/>
              </a:lnSpc>
              <a:spcBef>
                <a:spcPts val="0"/>
              </a:spcBef>
              <a:spcAft>
                <a:spcPts val="0"/>
              </a:spcAft>
              <a:buClr>
                <a:schemeClr val="dk1"/>
              </a:buClr>
              <a:buSzPts val="1100"/>
              <a:buChar char="●"/>
            </a:pPr>
            <a:r>
              <a:rPr lang="es-MX" sz="1600" dirty="0">
                <a:solidFill>
                  <a:schemeClr val="dk1"/>
                </a:solidFill>
                <a:latin typeface="Work Sans Light"/>
                <a:ea typeface="Work Sans Light"/>
                <a:cs typeface="Work Sans Light"/>
                <a:sym typeface="Work Sans Light"/>
              </a:rPr>
              <a:t>Dificultad para organizar </a:t>
            </a:r>
            <a:r>
              <a:rPr lang="es-MX" sz="1600" u="sng" dirty="0">
                <a:solidFill>
                  <a:schemeClr val="dk1"/>
                </a:solidFill>
                <a:latin typeface="Work Sans Light"/>
                <a:ea typeface="Work Sans Light"/>
                <a:cs typeface="Work Sans Light"/>
                <a:sym typeface="Work Sans Light"/>
              </a:rPr>
              <a:t>voluntariado</a:t>
            </a:r>
            <a:r>
              <a:rPr lang="es-MX" sz="1600" dirty="0">
                <a:solidFill>
                  <a:schemeClr val="dk1"/>
                </a:solidFill>
                <a:latin typeface="Work Sans Light"/>
                <a:ea typeface="Work Sans Light"/>
                <a:cs typeface="Work Sans Light"/>
                <a:sym typeface="Work Sans Light"/>
              </a:rPr>
              <a:t>, ocasionalmente sin organización de la misma.</a:t>
            </a:r>
            <a:br>
              <a:rPr lang="es-MX" sz="1600" dirty="0">
                <a:solidFill>
                  <a:schemeClr val="dk1"/>
                </a:solidFill>
                <a:latin typeface="Work Sans Light"/>
                <a:ea typeface="Work Sans Light"/>
                <a:cs typeface="Work Sans Light"/>
                <a:sym typeface="Work Sans Light"/>
              </a:rPr>
            </a:br>
            <a:endParaRPr sz="1600" dirty="0">
              <a:solidFill>
                <a:schemeClr val="dk1"/>
              </a:solidFill>
              <a:latin typeface="Work Sans Light"/>
              <a:ea typeface="Work Sans Light"/>
              <a:cs typeface="Work Sans Light"/>
              <a:sym typeface="Work Sans Light"/>
            </a:endParaRPr>
          </a:p>
          <a:p>
            <a:pPr marL="457200" lvl="0" indent="-298450" algn="l" rtl="0">
              <a:lnSpc>
                <a:spcPct val="115000"/>
              </a:lnSpc>
              <a:spcBef>
                <a:spcPts val="0"/>
              </a:spcBef>
              <a:spcAft>
                <a:spcPts val="0"/>
              </a:spcAft>
              <a:buClr>
                <a:schemeClr val="dk1"/>
              </a:buClr>
              <a:buSzPts val="1100"/>
              <a:buChar char="●"/>
            </a:pPr>
            <a:r>
              <a:rPr lang="es-MX" sz="1600" dirty="0">
                <a:solidFill>
                  <a:schemeClr val="dk1"/>
                </a:solidFill>
                <a:latin typeface="Work Sans Light"/>
                <a:ea typeface="Work Sans Light"/>
                <a:cs typeface="Work Sans Light"/>
                <a:sym typeface="Work Sans Light"/>
              </a:rPr>
              <a:t>Dificultad en la creación de </a:t>
            </a:r>
            <a:r>
              <a:rPr lang="es-MX" sz="1600" u="sng" dirty="0">
                <a:solidFill>
                  <a:schemeClr val="dk1"/>
                </a:solidFill>
                <a:latin typeface="Work Sans Light"/>
                <a:ea typeface="Work Sans Light"/>
                <a:cs typeface="Work Sans Light"/>
                <a:sym typeface="Work Sans Light"/>
              </a:rPr>
              <a:t>campañas de donaciones</a:t>
            </a:r>
            <a:r>
              <a:rPr lang="es-MX" sz="1600" dirty="0">
                <a:solidFill>
                  <a:schemeClr val="dk1"/>
                </a:solidFill>
                <a:latin typeface="Work Sans Light"/>
                <a:ea typeface="Work Sans Light"/>
                <a:cs typeface="Work Sans Light"/>
                <a:sym typeface="Work Sans Light"/>
              </a:rPr>
              <a:t>, y sin seguimiento para que los donantes puedan visualizar los avances de sus donaciones.</a:t>
            </a:r>
            <a:br>
              <a:rPr lang="es-MX" sz="1600" dirty="0">
                <a:solidFill>
                  <a:schemeClr val="dk1"/>
                </a:solidFill>
                <a:latin typeface="Work Sans Light"/>
                <a:ea typeface="Work Sans Light"/>
                <a:cs typeface="Work Sans Light"/>
                <a:sym typeface="Work Sans Light"/>
              </a:rPr>
            </a:br>
            <a:endParaRPr sz="1600" dirty="0">
              <a:solidFill>
                <a:schemeClr val="dk1"/>
              </a:solidFill>
              <a:latin typeface="Work Sans Light"/>
              <a:ea typeface="Work Sans Light"/>
              <a:cs typeface="Work Sans Light"/>
              <a:sym typeface="Work Sans Light"/>
            </a:endParaRPr>
          </a:p>
          <a:p>
            <a:pPr marL="457200" lvl="0" indent="-298450" algn="l" rtl="0">
              <a:lnSpc>
                <a:spcPct val="115000"/>
              </a:lnSpc>
              <a:spcBef>
                <a:spcPts val="0"/>
              </a:spcBef>
              <a:spcAft>
                <a:spcPts val="0"/>
              </a:spcAft>
              <a:buClr>
                <a:schemeClr val="dk1"/>
              </a:buClr>
              <a:buSzPts val="1100"/>
              <a:buChar char="●"/>
            </a:pPr>
            <a:r>
              <a:rPr lang="es-MX" sz="1600" u="sng" dirty="0">
                <a:solidFill>
                  <a:schemeClr val="dk1"/>
                </a:solidFill>
                <a:latin typeface="Work Sans Light"/>
                <a:ea typeface="Work Sans Light"/>
                <a:cs typeface="Work Sans Light"/>
                <a:sym typeface="Work Sans Light"/>
              </a:rPr>
              <a:t>Baja participación ciudadana</a:t>
            </a:r>
            <a:r>
              <a:rPr lang="es-MX" sz="1600" dirty="0">
                <a:solidFill>
                  <a:schemeClr val="dk1"/>
                </a:solidFill>
                <a:latin typeface="Work Sans Light"/>
                <a:ea typeface="Work Sans Light"/>
                <a:cs typeface="Work Sans Light"/>
                <a:sym typeface="Work Sans Light"/>
              </a:rPr>
              <a:t> por falta de herramientas tecnológicas, esto genera pérdida de información, retrasos en procesos y </a:t>
            </a:r>
            <a:r>
              <a:rPr lang="es-MX" sz="1600" u="sng" dirty="0">
                <a:solidFill>
                  <a:schemeClr val="dk1"/>
                </a:solidFill>
                <a:latin typeface="Work Sans Light"/>
                <a:ea typeface="Work Sans Light"/>
                <a:cs typeface="Work Sans Light"/>
                <a:sym typeface="Work Sans Light"/>
              </a:rPr>
              <a:t>menor impacto social</a:t>
            </a:r>
            <a:r>
              <a:rPr lang="es-MX" sz="1600" dirty="0">
                <a:solidFill>
                  <a:schemeClr val="dk1"/>
                </a:solidFill>
                <a:latin typeface="Work Sans Light"/>
                <a:ea typeface="Work Sans Light"/>
                <a:cs typeface="Work Sans Light"/>
                <a:sym typeface="Work Sans Light"/>
              </a:rPr>
              <a:t>.</a:t>
            </a:r>
            <a:endParaRPr sz="1600" dirty="0">
              <a:solidFill>
                <a:schemeClr val="dk1"/>
              </a:solidFill>
              <a:latin typeface="Work Sans Light"/>
              <a:ea typeface="Work Sans Light"/>
              <a:cs typeface="Work Sans Light"/>
              <a:sym typeface="Work Sans Light"/>
            </a:endParaRPr>
          </a:p>
          <a:p>
            <a:pPr marL="0" marR="0" lvl="0" indent="0" algn="l" rtl="0">
              <a:spcBef>
                <a:spcPts val="1200"/>
              </a:spcBef>
              <a:spcAft>
                <a:spcPts val="0"/>
              </a:spcAft>
              <a:buNone/>
            </a:pP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dirty="0"/>
          </a:p>
        </p:txBody>
      </p:sp>
      <p:pic>
        <p:nvPicPr>
          <p:cNvPr id="134" name="Google Shape;134;p5"/>
          <p:cNvPicPr preferRelativeResize="0"/>
          <p:nvPr/>
        </p:nvPicPr>
        <p:blipFill>
          <a:blip r:embed="rId3">
            <a:alphaModFix/>
          </a:blip>
          <a:stretch>
            <a:fillRect/>
          </a:stretch>
        </p:blipFill>
        <p:spPr>
          <a:xfrm>
            <a:off x="8083679" y="219200"/>
            <a:ext cx="2763400" cy="110812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8"/>
        <p:cNvGrpSpPr/>
        <p:nvPr/>
      </p:nvGrpSpPr>
      <p:grpSpPr>
        <a:xfrm>
          <a:off x="0" y="0"/>
          <a:ext cx="0" cy="0"/>
          <a:chOff x="0" y="0"/>
          <a:chExt cx="0" cy="0"/>
        </a:xfrm>
      </p:grpSpPr>
      <p:sp>
        <p:nvSpPr>
          <p:cNvPr id="139" name="Google Shape;139;p7"/>
          <p:cNvSpPr/>
          <p:nvPr/>
        </p:nvSpPr>
        <p:spPr>
          <a:xfrm>
            <a:off x="1314043" y="593940"/>
            <a:ext cx="3527266" cy="347242"/>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40" name="Google Shape;140;p7"/>
          <p:cNvSpPr txBox="1"/>
          <p:nvPr/>
        </p:nvSpPr>
        <p:spPr>
          <a:xfrm>
            <a:off x="1039184" y="310961"/>
            <a:ext cx="4076985" cy="676598"/>
          </a:xfrm>
          <a:prstGeom prst="rect">
            <a:avLst/>
          </a:prstGeom>
          <a:no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Clr>
                <a:srgbClr val="38AA00"/>
              </a:buClr>
              <a:buSzPts val="3200"/>
              <a:buFont typeface="Work Sans Light"/>
              <a:buNone/>
            </a:pPr>
            <a:r>
              <a:rPr lang="es-MX" sz="3200">
                <a:solidFill>
                  <a:srgbClr val="38AA00"/>
                </a:solidFill>
                <a:latin typeface="Work Sans Light"/>
                <a:ea typeface="Work Sans Light"/>
                <a:cs typeface="Work Sans Light"/>
                <a:sym typeface="Work Sans Light"/>
              </a:rPr>
              <a:t>Objetivo General</a:t>
            </a:r>
            <a:endParaRPr/>
          </a:p>
        </p:txBody>
      </p:sp>
      <p:sp>
        <p:nvSpPr>
          <p:cNvPr id="141" name="Google Shape;141;p7"/>
          <p:cNvSpPr txBox="1"/>
          <p:nvPr/>
        </p:nvSpPr>
        <p:spPr>
          <a:xfrm>
            <a:off x="556218" y="1286827"/>
            <a:ext cx="5043000" cy="132339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MX" sz="1600" dirty="0">
                <a:solidFill>
                  <a:schemeClr val="dk1"/>
                </a:solidFill>
                <a:latin typeface="Work Sans Light"/>
                <a:ea typeface="Work Sans Light"/>
                <a:cs typeface="Work Sans Light"/>
                <a:sym typeface="Work Sans Light"/>
              </a:rPr>
              <a:t>Desarrollar una plataforma web que optimice la gestión de procesos de </a:t>
            </a:r>
            <a:r>
              <a:rPr lang="es-MX" sz="1600" u="sng" dirty="0">
                <a:solidFill>
                  <a:schemeClr val="dk1"/>
                </a:solidFill>
                <a:latin typeface="Work Sans Light"/>
                <a:ea typeface="Work Sans Light"/>
                <a:cs typeface="Work Sans Light"/>
                <a:sym typeface="Work Sans Light"/>
              </a:rPr>
              <a:t>adopción</a:t>
            </a:r>
            <a:r>
              <a:rPr lang="es-MX" sz="1600" dirty="0">
                <a:solidFill>
                  <a:schemeClr val="dk1"/>
                </a:solidFill>
                <a:latin typeface="Work Sans Light"/>
                <a:ea typeface="Work Sans Light"/>
                <a:cs typeface="Work Sans Light"/>
                <a:sym typeface="Work Sans Light"/>
              </a:rPr>
              <a:t>, </a:t>
            </a:r>
            <a:r>
              <a:rPr lang="es-MX" sz="1600" u="sng" dirty="0">
                <a:solidFill>
                  <a:schemeClr val="dk1"/>
                </a:solidFill>
                <a:latin typeface="Work Sans Light"/>
                <a:ea typeface="Work Sans Light"/>
                <a:cs typeface="Work Sans Light"/>
                <a:sym typeface="Work Sans Light"/>
              </a:rPr>
              <a:t>donaciones</a:t>
            </a:r>
            <a:r>
              <a:rPr lang="es-MX" sz="1600" dirty="0">
                <a:solidFill>
                  <a:schemeClr val="dk1"/>
                </a:solidFill>
                <a:latin typeface="Work Sans Light"/>
                <a:ea typeface="Work Sans Light"/>
                <a:cs typeface="Work Sans Light"/>
                <a:sym typeface="Work Sans Light"/>
              </a:rPr>
              <a:t>, </a:t>
            </a:r>
            <a:r>
              <a:rPr lang="es-MX" sz="1600" u="sng" dirty="0">
                <a:solidFill>
                  <a:schemeClr val="dk1"/>
                </a:solidFill>
                <a:latin typeface="Work Sans Light"/>
                <a:ea typeface="Work Sans Light"/>
                <a:cs typeface="Work Sans Light"/>
                <a:sym typeface="Work Sans Light"/>
              </a:rPr>
              <a:t>voluntariado</a:t>
            </a:r>
            <a:r>
              <a:rPr lang="es-MX" sz="1600" dirty="0">
                <a:solidFill>
                  <a:schemeClr val="dk1"/>
                </a:solidFill>
                <a:latin typeface="Work Sans Light"/>
                <a:ea typeface="Work Sans Light"/>
                <a:cs typeface="Work Sans Light"/>
                <a:sym typeface="Work Sans Light"/>
              </a:rPr>
              <a:t>, </a:t>
            </a:r>
            <a:r>
              <a:rPr lang="es-MX" sz="1600" u="sng" dirty="0">
                <a:solidFill>
                  <a:schemeClr val="dk1"/>
                </a:solidFill>
                <a:latin typeface="Work Sans Light"/>
                <a:ea typeface="Work Sans Light"/>
                <a:cs typeface="Work Sans Light"/>
                <a:sym typeface="Work Sans Light"/>
              </a:rPr>
              <a:t>alertas ciudadanas de rescate</a:t>
            </a:r>
            <a:r>
              <a:rPr lang="es-MX" sz="1600" dirty="0">
                <a:solidFill>
                  <a:schemeClr val="dk1"/>
                </a:solidFill>
                <a:latin typeface="Work Sans Light"/>
                <a:ea typeface="Work Sans Light"/>
                <a:cs typeface="Work Sans Light"/>
                <a:sym typeface="Work Sans Light"/>
              </a:rPr>
              <a:t> y la organización de </a:t>
            </a:r>
            <a:r>
              <a:rPr lang="es-MX" sz="1600" u="sng" dirty="0">
                <a:solidFill>
                  <a:schemeClr val="dk1"/>
                </a:solidFill>
                <a:latin typeface="Work Sans Light"/>
                <a:ea typeface="Work Sans Light"/>
                <a:cs typeface="Work Sans Light"/>
                <a:sym typeface="Work Sans Light"/>
              </a:rPr>
              <a:t>campañas y/o eventos </a:t>
            </a:r>
            <a:r>
              <a:rPr lang="es-MX" sz="1600" dirty="0">
                <a:solidFill>
                  <a:schemeClr val="dk1"/>
                </a:solidFill>
                <a:latin typeface="Work Sans Light"/>
                <a:ea typeface="Work Sans Light"/>
                <a:cs typeface="Work Sans Light"/>
                <a:sym typeface="Work Sans Light"/>
              </a:rPr>
              <a:t>de la fundación IKIGAI.</a:t>
            </a:r>
            <a:endParaRPr sz="1600" dirty="0">
              <a:solidFill>
                <a:schemeClr val="dk1"/>
              </a:solidFill>
              <a:latin typeface="Work Sans Light"/>
              <a:ea typeface="Work Sans Light"/>
              <a:cs typeface="Work Sans Light"/>
              <a:sym typeface="Work Sans Light"/>
            </a:endParaRPr>
          </a:p>
        </p:txBody>
      </p:sp>
      <p:sp>
        <p:nvSpPr>
          <p:cNvPr id="142" name="Google Shape;142;p7"/>
          <p:cNvSpPr/>
          <p:nvPr/>
        </p:nvSpPr>
        <p:spPr>
          <a:xfrm>
            <a:off x="484946" y="3146130"/>
            <a:ext cx="4166093" cy="347242"/>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43" name="Google Shape;143;p7"/>
          <p:cNvSpPr txBox="1"/>
          <p:nvPr/>
        </p:nvSpPr>
        <p:spPr>
          <a:xfrm>
            <a:off x="574055" y="2888203"/>
            <a:ext cx="4076985" cy="676598"/>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3200"/>
              <a:buFont typeface="Work Sans Light"/>
              <a:buNone/>
            </a:pPr>
            <a:r>
              <a:rPr lang="es-MX" sz="3200">
                <a:solidFill>
                  <a:srgbClr val="38AA00"/>
                </a:solidFill>
                <a:latin typeface="Work Sans Light"/>
                <a:ea typeface="Work Sans Light"/>
                <a:cs typeface="Work Sans Light"/>
                <a:sym typeface="Work Sans Light"/>
              </a:rPr>
              <a:t>Objetivo Específicos</a:t>
            </a:r>
            <a:endParaRPr/>
          </a:p>
        </p:txBody>
      </p:sp>
      <p:sp>
        <p:nvSpPr>
          <p:cNvPr id="144" name="Google Shape;144;p7"/>
          <p:cNvSpPr txBox="1"/>
          <p:nvPr/>
        </p:nvSpPr>
        <p:spPr>
          <a:xfrm>
            <a:off x="574055" y="3564801"/>
            <a:ext cx="4834800" cy="2476022"/>
          </a:xfrm>
          <a:prstGeom prst="rect">
            <a:avLst/>
          </a:prstGeom>
          <a:noFill/>
          <a:ln>
            <a:noFill/>
          </a:ln>
        </p:spPr>
        <p:txBody>
          <a:bodyPr spcFirstLastPara="1" wrap="square" lIns="91425" tIns="45700" rIns="91425" bIns="45700" anchor="t" anchorCtr="0">
            <a:spAutoFit/>
          </a:bodyPr>
          <a:lstStyle/>
          <a:p>
            <a:pPr marL="457200" lvl="0" indent="-330200" algn="l" rtl="0">
              <a:lnSpc>
                <a:spcPct val="115000"/>
              </a:lnSpc>
              <a:spcBef>
                <a:spcPts val="1200"/>
              </a:spcBef>
              <a:spcAft>
                <a:spcPts val="0"/>
              </a:spcAft>
              <a:buClr>
                <a:schemeClr val="dk1"/>
              </a:buClr>
              <a:buSzPts val="1600"/>
              <a:buFont typeface="Work Sans Light"/>
              <a:buChar char="•"/>
            </a:pPr>
            <a:r>
              <a:rPr lang="es-MX" dirty="0">
                <a:solidFill>
                  <a:schemeClr val="dk1"/>
                </a:solidFill>
                <a:latin typeface="Work Sans Light"/>
                <a:ea typeface="Work Sans Light"/>
                <a:cs typeface="Work Sans Light"/>
                <a:sym typeface="Work Sans Light"/>
              </a:rPr>
              <a:t>Gestionar los usuarios.</a:t>
            </a:r>
            <a:endParaRPr dirty="0">
              <a:solidFill>
                <a:schemeClr val="dk1"/>
              </a:solidFill>
              <a:latin typeface="Work Sans Light"/>
              <a:ea typeface="Work Sans Light"/>
              <a:cs typeface="Work Sans Light"/>
              <a:sym typeface="Work Sans Light"/>
            </a:endParaRPr>
          </a:p>
          <a:p>
            <a:pPr marL="457200" lvl="0" indent="-330200">
              <a:lnSpc>
                <a:spcPct val="115000"/>
              </a:lnSpc>
              <a:buClr>
                <a:schemeClr val="dk1"/>
              </a:buClr>
              <a:buSzPts val="1600"/>
              <a:buFont typeface="Work Sans Light"/>
              <a:buChar char="•"/>
            </a:pPr>
            <a:r>
              <a:rPr lang="es-MX" dirty="0">
                <a:solidFill>
                  <a:schemeClr val="dk1"/>
                </a:solidFill>
                <a:latin typeface="Work Sans Light"/>
                <a:ea typeface="Work Sans Light"/>
                <a:cs typeface="Work Sans Light"/>
                <a:sym typeface="Work Sans Light"/>
              </a:rPr>
              <a:t>Gestionar los procesos de rescate de animales de la fundación.</a:t>
            </a:r>
          </a:p>
          <a:p>
            <a:pPr marL="457200" lvl="0" indent="-330200">
              <a:lnSpc>
                <a:spcPct val="115000"/>
              </a:lnSpc>
              <a:buClr>
                <a:schemeClr val="dk1"/>
              </a:buClr>
              <a:buSzPts val="1600"/>
              <a:buFont typeface="Work Sans Light"/>
              <a:buChar char="•"/>
            </a:pPr>
            <a:r>
              <a:rPr lang="es-MX" dirty="0">
                <a:solidFill>
                  <a:schemeClr val="dk1"/>
                </a:solidFill>
                <a:latin typeface="Work Sans Light"/>
                <a:ea typeface="Work Sans Light"/>
                <a:cs typeface="Work Sans Light"/>
                <a:sym typeface="Work Sans Light"/>
              </a:rPr>
              <a:t>Gestionar las donaciones</a:t>
            </a:r>
            <a:endParaRPr dirty="0">
              <a:solidFill>
                <a:schemeClr val="dk1"/>
              </a:solidFill>
              <a:latin typeface="Work Sans Light"/>
              <a:ea typeface="Work Sans Light"/>
              <a:cs typeface="Work Sans Light"/>
              <a:sym typeface="Work Sans Light"/>
            </a:endParaRPr>
          </a:p>
          <a:p>
            <a:pPr marL="457200" lvl="0" indent="-330200">
              <a:lnSpc>
                <a:spcPct val="115000"/>
              </a:lnSpc>
              <a:buClr>
                <a:schemeClr val="dk1"/>
              </a:buClr>
              <a:buSzPts val="1600"/>
              <a:buFont typeface="Work Sans Light"/>
              <a:buChar char="•"/>
            </a:pPr>
            <a:r>
              <a:rPr lang="es-MX" dirty="0">
                <a:solidFill>
                  <a:schemeClr val="dk1"/>
                </a:solidFill>
                <a:latin typeface="Work Sans Light"/>
                <a:ea typeface="Work Sans Light"/>
                <a:cs typeface="Work Sans Light"/>
                <a:sym typeface="Work Sans Light"/>
              </a:rPr>
              <a:t>Gestionar las adopciones de animales.</a:t>
            </a:r>
            <a:endParaRPr dirty="0">
              <a:solidFill>
                <a:schemeClr val="dk1"/>
              </a:solidFill>
              <a:latin typeface="Work Sans Light"/>
              <a:ea typeface="Work Sans Light"/>
              <a:cs typeface="Work Sans Light"/>
              <a:sym typeface="Work Sans Light"/>
            </a:endParaRPr>
          </a:p>
          <a:p>
            <a:pPr marL="457200" lvl="0" indent="-330200">
              <a:lnSpc>
                <a:spcPct val="115000"/>
              </a:lnSpc>
              <a:buClr>
                <a:schemeClr val="dk1"/>
              </a:buClr>
              <a:buSzPts val="1600"/>
              <a:buFont typeface="Work Sans Light"/>
              <a:buChar char="•"/>
            </a:pPr>
            <a:r>
              <a:rPr lang="es-MX" dirty="0">
                <a:solidFill>
                  <a:schemeClr val="dk1"/>
                </a:solidFill>
                <a:latin typeface="Work Sans Light"/>
                <a:ea typeface="Work Sans Light"/>
                <a:cs typeface="Work Sans Light"/>
                <a:sym typeface="Work Sans Light"/>
              </a:rPr>
              <a:t>Gestionar el voluntariado.</a:t>
            </a:r>
          </a:p>
          <a:p>
            <a:pPr marL="457200" lvl="0" indent="-330200">
              <a:lnSpc>
                <a:spcPct val="115000"/>
              </a:lnSpc>
              <a:buClr>
                <a:schemeClr val="dk1"/>
              </a:buClr>
              <a:buSzPts val="1600"/>
              <a:buFont typeface="Work Sans Light"/>
              <a:buChar char="•"/>
            </a:pPr>
            <a:r>
              <a:rPr lang="es-MX" dirty="0">
                <a:solidFill>
                  <a:schemeClr val="dk1"/>
                </a:solidFill>
                <a:latin typeface="Work Sans Light"/>
                <a:ea typeface="Work Sans Light"/>
                <a:cs typeface="Work Sans Light"/>
                <a:sym typeface="Work Sans Light"/>
              </a:rPr>
              <a:t>Gestionar las donaciones.</a:t>
            </a:r>
            <a:endParaRPr dirty="0">
              <a:solidFill>
                <a:schemeClr val="dk1"/>
              </a:solidFill>
              <a:latin typeface="Work Sans Light"/>
              <a:ea typeface="Work Sans Light"/>
              <a:cs typeface="Work Sans Light"/>
              <a:sym typeface="Work Sans Light"/>
            </a:endParaRPr>
          </a:p>
          <a:p>
            <a:pPr marL="457200" lvl="0" indent="-330200">
              <a:lnSpc>
                <a:spcPct val="115000"/>
              </a:lnSpc>
              <a:buClr>
                <a:schemeClr val="dk1"/>
              </a:buClr>
              <a:buSzPts val="1600"/>
              <a:buFont typeface="Work Sans Light"/>
              <a:buChar char="•"/>
            </a:pPr>
            <a:r>
              <a:rPr lang="es-MX" dirty="0">
                <a:solidFill>
                  <a:schemeClr val="dk1"/>
                </a:solidFill>
                <a:latin typeface="Work Sans Light"/>
                <a:ea typeface="Work Sans Light"/>
                <a:cs typeface="Work Sans Light"/>
                <a:sym typeface="Work Sans Light"/>
              </a:rPr>
              <a:t>Gestionar reportes estadísticos de las donaciones y adopciones.</a:t>
            </a:r>
            <a:endParaRPr dirty="0">
              <a:solidFill>
                <a:schemeClr val="dk1"/>
              </a:solidFill>
              <a:latin typeface="Work Sans Light"/>
              <a:ea typeface="Work Sans Light"/>
              <a:cs typeface="Work Sans Light"/>
              <a:sym typeface="Work Sans Light"/>
            </a:endParaRPr>
          </a:p>
        </p:txBody>
      </p:sp>
      <p:pic>
        <p:nvPicPr>
          <p:cNvPr id="145" name="Google Shape;145;p7"/>
          <p:cNvPicPr preferRelativeResize="0"/>
          <p:nvPr/>
        </p:nvPicPr>
        <p:blipFill>
          <a:blip r:embed="rId3">
            <a:alphaModFix/>
          </a:blip>
          <a:stretch>
            <a:fillRect/>
          </a:stretch>
        </p:blipFill>
        <p:spPr>
          <a:xfrm>
            <a:off x="5736537" y="725927"/>
            <a:ext cx="3592214" cy="2394825"/>
          </a:xfrm>
          <a:prstGeom prst="rect">
            <a:avLst/>
          </a:prstGeom>
          <a:noFill/>
          <a:ln>
            <a:noFill/>
          </a:ln>
        </p:spPr>
      </p:pic>
      <p:pic>
        <p:nvPicPr>
          <p:cNvPr id="146" name="Google Shape;146;p7"/>
          <p:cNvPicPr preferRelativeResize="0"/>
          <p:nvPr/>
        </p:nvPicPr>
        <p:blipFill>
          <a:blip r:embed="rId4">
            <a:alphaModFix/>
          </a:blip>
          <a:stretch>
            <a:fillRect/>
          </a:stretch>
        </p:blipFill>
        <p:spPr>
          <a:xfrm>
            <a:off x="9381575" y="2157490"/>
            <a:ext cx="2577600" cy="2577600"/>
          </a:xfrm>
          <a:prstGeom prst="rect">
            <a:avLst/>
          </a:prstGeom>
          <a:noFill/>
          <a:ln>
            <a:noFill/>
          </a:ln>
        </p:spPr>
      </p:pic>
      <p:pic>
        <p:nvPicPr>
          <p:cNvPr id="147" name="Google Shape;147;p7"/>
          <p:cNvPicPr preferRelativeResize="0"/>
          <p:nvPr/>
        </p:nvPicPr>
        <p:blipFill>
          <a:blip r:embed="rId5">
            <a:alphaModFix/>
          </a:blip>
          <a:stretch>
            <a:fillRect/>
          </a:stretch>
        </p:blipFill>
        <p:spPr>
          <a:xfrm>
            <a:off x="5711850" y="3273165"/>
            <a:ext cx="3592224" cy="234962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51"/>
        <p:cNvGrpSpPr/>
        <p:nvPr/>
      </p:nvGrpSpPr>
      <p:grpSpPr>
        <a:xfrm>
          <a:off x="0" y="0"/>
          <a:ext cx="0" cy="0"/>
          <a:chOff x="0" y="0"/>
          <a:chExt cx="0" cy="0"/>
        </a:xfrm>
      </p:grpSpPr>
      <p:sp>
        <p:nvSpPr>
          <p:cNvPr id="152" name="Google Shape;152;p8"/>
          <p:cNvSpPr txBox="1">
            <a:spLocks noGrp="1"/>
          </p:cNvSpPr>
          <p:nvPr>
            <p:ph type="title"/>
          </p:nvPr>
        </p:nvSpPr>
        <p:spPr>
          <a:xfrm>
            <a:off x="456236" y="110481"/>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4400"/>
              <a:buFont typeface="Work Sans Medium"/>
              <a:buNone/>
            </a:pPr>
            <a:r>
              <a:rPr lang="es-MX">
                <a:solidFill>
                  <a:schemeClr val="lt1"/>
                </a:solidFill>
                <a:latin typeface="Work Sans Medium"/>
                <a:ea typeface="Work Sans Medium"/>
                <a:cs typeface="Work Sans Medium"/>
                <a:sym typeface="Work Sans Medium"/>
              </a:rPr>
              <a:t>Justificación</a:t>
            </a:r>
            <a:endParaRPr/>
          </a:p>
        </p:txBody>
      </p:sp>
      <p:sp>
        <p:nvSpPr>
          <p:cNvPr id="153" name="Google Shape;153;p8"/>
          <p:cNvSpPr txBox="1"/>
          <p:nvPr/>
        </p:nvSpPr>
        <p:spPr>
          <a:xfrm>
            <a:off x="372350" y="1667524"/>
            <a:ext cx="11447400" cy="40872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MX" sz="1600" dirty="0">
                <a:solidFill>
                  <a:schemeClr val="dk1"/>
                </a:solidFill>
                <a:latin typeface="Work Sans Light"/>
                <a:ea typeface="Work Sans Light"/>
                <a:cs typeface="Work Sans Light"/>
                <a:sym typeface="Work Sans Light"/>
              </a:rPr>
              <a:t>	Se propone el desarrollo de un software que funcione como una herramienta de apoyo que sistematice las gestiones como el rescate, adopción, voluntariado, donaciones y alertas ciudadanas de la fundación IKIGAI.</a:t>
            </a:r>
            <a:endParaRPr sz="1600" dirty="0">
              <a:solidFill>
                <a:schemeClr val="dk1"/>
              </a:solidFill>
              <a:latin typeface="Work Sans Light"/>
              <a:ea typeface="Work Sans Light"/>
              <a:cs typeface="Work Sans Light"/>
              <a:sym typeface="Work Sans Light"/>
            </a:endParaRPr>
          </a:p>
          <a:p>
            <a:pPr lvl="2">
              <a:lnSpc>
                <a:spcPct val="115000"/>
              </a:lnSpc>
              <a:spcBef>
                <a:spcPts val="1200"/>
              </a:spcBef>
              <a:buClr>
                <a:schemeClr val="dk1"/>
              </a:buClr>
              <a:buSzPts val="1100"/>
            </a:pPr>
            <a:r>
              <a:rPr lang="es-MX" sz="1600" dirty="0">
                <a:solidFill>
                  <a:schemeClr val="dk1"/>
                </a:solidFill>
                <a:latin typeface="Work Sans Light"/>
                <a:ea typeface="Work Sans Light"/>
                <a:cs typeface="Work Sans Light"/>
                <a:sym typeface="Work Sans Light"/>
              </a:rPr>
              <a:t>	Los diferentes perfiles de usuario (administrador, fundación, voluntario, donante y ciudadano), Tendrán accesibilidad a los siguientes módulos para permitir la facilidad en la sistematización: Módulo de reportes de animales, los ciudadanos podrán reportar casos y la fundación dará respuesta organizada. En el módulo de adopciones, los interesados podrán acceder a perfiles completos de animales y enviar solicitudes. Finalmente, la herramienta generará reportes gráficos e impresos para apoyar la transparencia y la toma de decisiones de la fundación.</a:t>
            </a:r>
            <a:endParaRPr sz="1600" dirty="0">
              <a:solidFill>
                <a:schemeClr val="dk1"/>
              </a:solidFill>
              <a:latin typeface="Work Sans Light"/>
              <a:ea typeface="Work Sans Light"/>
              <a:cs typeface="Work Sans Light"/>
              <a:sym typeface="Work Sans Light"/>
            </a:endParaRPr>
          </a:p>
          <a:p>
            <a:pPr marL="0" lvl="0" indent="0" algn="l" rtl="0">
              <a:lnSpc>
                <a:spcPct val="115000"/>
              </a:lnSpc>
              <a:spcBef>
                <a:spcPts val="1200"/>
              </a:spcBef>
              <a:spcAft>
                <a:spcPts val="0"/>
              </a:spcAft>
              <a:buClr>
                <a:schemeClr val="dk1"/>
              </a:buClr>
              <a:buSzPts val="1100"/>
              <a:buFont typeface="Arial"/>
              <a:buNone/>
            </a:pPr>
            <a:r>
              <a:rPr lang="es-MX" sz="1600" dirty="0">
                <a:solidFill>
                  <a:schemeClr val="dk1"/>
                </a:solidFill>
                <a:latin typeface="Work Sans Light"/>
                <a:ea typeface="Work Sans Light"/>
                <a:cs typeface="Work Sans Light"/>
                <a:sym typeface="Work Sans Light"/>
              </a:rPr>
              <a:t>	El software ZAAP representa un aporte al sector social y de bienestar animal, ya que fortalece la capacidad tecnológica de la fundación, fomenta la participación ciudadana y promueve la transparencia en el uso de recursos y donaciones.</a:t>
            </a:r>
            <a:endParaRPr sz="1600" dirty="0">
              <a:solidFill>
                <a:schemeClr val="dk1"/>
              </a:solidFill>
              <a:latin typeface="Work Sans Light"/>
              <a:ea typeface="Work Sans Light"/>
              <a:cs typeface="Work Sans Light"/>
              <a:sym typeface="Work Sans Light"/>
            </a:endParaRPr>
          </a:p>
          <a:p>
            <a:pPr marL="0" marR="0" lvl="0" indent="0" algn="l" rtl="0">
              <a:spcBef>
                <a:spcPts val="1200"/>
              </a:spcBef>
              <a:spcAft>
                <a:spcPts val="0"/>
              </a:spcAft>
              <a:buNone/>
            </a:pPr>
            <a:endParaRPr sz="1600" dirty="0">
              <a:solidFill>
                <a:schemeClr val="dk1"/>
              </a:solidFill>
              <a:latin typeface="Work Sans Light"/>
              <a:ea typeface="Work Sans Light"/>
              <a:cs typeface="Work Sans Light"/>
              <a:sym typeface="Work Sans Light"/>
            </a:endParaRPr>
          </a:p>
          <a:p>
            <a:pPr marL="285750" marR="0" lvl="0" indent="-184150" algn="l" rtl="0">
              <a:spcBef>
                <a:spcPts val="0"/>
              </a:spcBef>
              <a:spcAft>
                <a:spcPts val="0"/>
              </a:spcAft>
              <a:buClr>
                <a:schemeClr val="dk1"/>
              </a:buClr>
              <a:buSzPts val="1600"/>
              <a:buFont typeface="Arial"/>
              <a:buNone/>
            </a:pPr>
            <a:endParaRPr sz="1600" b="1" dirty="0">
              <a:solidFill>
                <a:schemeClr val="dk1"/>
              </a:solidFill>
              <a:latin typeface="Work Sans Light"/>
              <a:ea typeface="Work Sans Light"/>
              <a:cs typeface="Work Sans Light"/>
              <a:sym typeface="Work Sans Light"/>
            </a:endParaRPr>
          </a:p>
        </p:txBody>
      </p:sp>
      <p:pic>
        <p:nvPicPr>
          <p:cNvPr id="154" name="Google Shape;154;p8"/>
          <p:cNvPicPr preferRelativeResize="0"/>
          <p:nvPr/>
        </p:nvPicPr>
        <p:blipFill>
          <a:blip r:embed="rId3">
            <a:alphaModFix/>
          </a:blip>
          <a:stretch>
            <a:fillRect/>
          </a:stretch>
        </p:blipFill>
        <p:spPr>
          <a:xfrm>
            <a:off x="8083679" y="219200"/>
            <a:ext cx="2763400" cy="1108125"/>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sp>
        <p:nvSpPr>
          <p:cNvPr id="159" name="Google Shape;159;p10"/>
          <p:cNvSpPr txBox="1">
            <a:spLocks noGrp="1"/>
          </p:cNvSpPr>
          <p:nvPr>
            <p:ph type="title"/>
          </p:nvPr>
        </p:nvSpPr>
        <p:spPr>
          <a:xfrm>
            <a:off x="456236" y="110481"/>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4400"/>
              <a:buFont typeface="Work Sans Medium"/>
              <a:buNone/>
            </a:pPr>
            <a:r>
              <a:rPr lang="es-MX">
                <a:solidFill>
                  <a:schemeClr val="lt1"/>
                </a:solidFill>
                <a:latin typeface="Work Sans Medium"/>
                <a:ea typeface="Work Sans Medium"/>
                <a:cs typeface="Work Sans Medium"/>
                <a:sym typeface="Work Sans Medium"/>
              </a:rPr>
              <a:t>Alcance</a:t>
            </a:r>
            <a:endParaRPr/>
          </a:p>
        </p:txBody>
      </p:sp>
      <p:sp>
        <p:nvSpPr>
          <p:cNvPr id="160" name="Google Shape;160;p10"/>
          <p:cNvSpPr txBox="1"/>
          <p:nvPr/>
        </p:nvSpPr>
        <p:spPr>
          <a:xfrm>
            <a:off x="456236" y="1544763"/>
            <a:ext cx="11447400" cy="470278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MX" sz="1600" dirty="0">
                <a:solidFill>
                  <a:schemeClr val="dk1"/>
                </a:solidFill>
                <a:latin typeface="Work Sans Light"/>
                <a:ea typeface="Work Sans Light"/>
                <a:cs typeface="Work Sans Light"/>
                <a:sym typeface="Work Sans Light"/>
              </a:rPr>
              <a:t>El software ZAAP permitirá a la fundación registrar animales rescatados, gestionar adopciones, organizar campañas y eventos, recibir y administrar donaciones, atender alertas ciudadanas y coordinar el voluntariado. Cada perfil de usuario tendrá acceso a funciones específicas según su rol, lo que facilita el uso y control del sistema.</a:t>
            </a:r>
            <a:endParaRPr sz="1600" dirty="0">
              <a:solidFill>
                <a:schemeClr val="dk1"/>
              </a:solidFill>
              <a:latin typeface="Work Sans Light"/>
              <a:ea typeface="Work Sans Light"/>
              <a:cs typeface="Work Sans Light"/>
              <a:sym typeface="Work Sans Light"/>
            </a:endParaRPr>
          </a:p>
          <a:p>
            <a:pPr marL="0" lvl="0" indent="0" algn="l" rtl="0">
              <a:lnSpc>
                <a:spcPct val="115000"/>
              </a:lnSpc>
              <a:spcBef>
                <a:spcPts val="1200"/>
              </a:spcBef>
              <a:spcAft>
                <a:spcPts val="0"/>
              </a:spcAft>
              <a:buClr>
                <a:schemeClr val="dk1"/>
              </a:buClr>
              <a:buSzPts val="1100"/>
              <a:buFont typeface="Arial"/>
              <a:buNone/>
            </a:pPr>
            <a:r>
              <a:rPr lang="es-MX" sz="1600" dirty="0">
                <a:solidFill>
                  <a:schemeClr val="dk1"/>
                </a:solidFill>
                <a:latin typeface="Work Sans Light"/>
                <a:ea typeface="Work Sans Light"/>
                <a:cs typeface="Work Sans Light"/>
                <a:sym typeface="Work Sans Light"/>
              </a:rPr>
              <a:t>No cubrirá procesos médicos veterinarios ni la administración financiera detallada de la fundación, ni a la venta de productos para animales, limitándose a la trazabilidad de las donaciones recibidas y su uso general.</a:t>
            </a:r>
            <a:endParaRPr sz="1600" dirty="0">
              <a:solidFill>
                <a:schemeClr val="dk1"/>
              </a:solidFill>
              <a:latin typeface="Work Sans Light"/>
              <a:ea typeface="Work Sans Light"/>
              <a:cs typeface="Work Sans Light"/>
              <a:sym typeface="Work Sans Light"/>
            </a:endParaRPr>
          </a:p>
          <a:p>
            <a:pPr lvl="0">
              <a:lnSpc>
                <a:spcPct val="115000"/>
              </a:lnSpc>
              <a:spcBef>
                <a:spcPts val="1200"/>
              </a:spcBef>
              <a:buClr>
                <a:schemeClr val="dk1"/>
              </a:buClr>
              <a:buSzPts val="1100"/>
            </a:pPr>
            <a:r>
              <a:rPr lang="es-MX" sz="1600" dirty="0">
                <a:solidFill>
                  <a:schemeClr val="dk1"/>
                </a:solidFill>
                <a:latin typeface="Work Sans Light"/>
                <a:ea typeface="Work Sans Light"/>
                <a:cs typeface="Work Sans Light"/>
                <a:sym typeface="Work Sans Light"/>
              </a:rPr>
              <a:t>El proyecto arquitectónico será modular y basado en una arquitectura cliente-servidor distribuida, lo que permitirá mantener y mejorar el sistema a futuro. Se utilizarán las siguientes tecnologías:</a:t>
            </a:r>
          </a:p>
          <a:p>
            <a:pPr marL="285750" lvl="0" indent="-285750">
              <a:lnSpc>
                <a:spcPct val="115000"/>
              </a:lnSpc>
              <a:spcBef>
                <a:spcPts val="1200"/>
              </a:spcBef>
              <a:buClr>
                <a:schemeClr val="dk1"/>
              </a:buClr>
              <a:buSzPts val="1100"/>
              <a:buFont typeface="Arial" panose="020B0604020202020204" pitchFamily="34" charset="0"/>
              <a:buChar char="•"/>
            </a:pPr>
            <a:r>
              <a:rPr lang="es-MX" sz="1600" dirty="0">
                <a:solidFill>
                  <a:schemeClr val="dk1"/>
                </a:solidFill>
                <a:latin typeface="Work Sans Light"/>
                <a:ea typeface="Work Sans Light"/>
                <a:cs typeface="Work Sans Light"/>
                <a:sym typeface="Work Sans Light"/>
              </a:rPr>
              <a:t>Base de datos: MySQL v_8.0</a:t>
            </a:r>
          </a:p>
          <a:p>
            <a:pPr marL="285750" lvl="0" indent="-285750">
              <a:lnSpc>
                <a:spcPct val="115000"/>
              </a:lnSpc>
              <a:spcBef>
                <a:spcPts val="1200"/>
              </a:spcBef>
              <a:buClr>
                <a:schemeClr val="dk1"/>
              </a:buClr>
              <a:buSzPts val="1100"/>
              <a:buFont typeface="Arial" panose="020B0604020202020204" pitchFamily="34" charset="0"/>
              <a:buChar char="•"/>
            </a:pPr>
            <a:r>
              <a:rPr lang="es-MX" sz="1600" dirty="0" err="1">
                <a:solidFill>
                  <a:schemeClr val="dk1"/>
                </a:solidFill>
                <a:latin typeface="Work Sans Light"/>
                <a:ea typeface="Work Sans Light"/>
                <a:cs typeface="Work Sans Light"/>
                <a:sym typeface="Work Sans Light"/>
              </a:rPr>
              <a:t>Backend</a:t>
            </a:r>
            <a:r>
              <a:rPr lang="es-MX" sz="1600" dirty="0">
                <a:solidFill>
                  <a:schemeClr val="dk1"/>
                </a:solidFill>
                <a:latin typeface="Work Sans Light"/>
                <a:ea typeface="Work Sans Light"/>
                <a:cs typeface="Work Sans Light"/>
                <a:sym typeface="Work Sans Light"/>
              </a:rPr>
              <a:t>: Python v_3.10 (</a:t>
            </a:r>
            <a:r>
              <a:rPr lang="es-MX" sz="1600" dirty="0" err="1">
                <a:solidFill>
                  <a:schemeClr val="dk1"/>
                </a:solidFill>
                <a:latin typeface="Work Sans Light"/>
                <a:ea typeface="Work Sans Light"/>
                <a:cs typeface="Work Sans Light"/>
                <a:sym typeface="Work Sans Light"/>
              </a:rPr>
              <a:t>Flask</a:t>
            </a:r>
            <a:r>
              <a:rPr lang="es-MX" sz="1600" dirty="0">
                <a:solidFill>
                  <a:schemeClr val="dk1"/>
                </a:solidFill>
                <a:latin typeface="Work Sans Light"/>
                <a:ea typeface="Work Sans Light"/>
                <a:cs typeface="Work Sans Light"/>
                <a:sym typeface="Work Sans Light"/>
              </a:rPr>
              <a:t> v_4.2 LTS)</a:t>
            </a:r>
          </a:p>
          <a:p>
            <a:pPr marL="285750" lvl="0" indent="-285750" algn="l" rtl="0">
              <a:lnSpc>
                <a:spcPct val="115000"/>
              </a:lnSpc>
              <a:spcBef>
                <a:spcPts val="1200"/>
              </a:spcBef>
              <a:spcAft>
                <a:spcPts val="0"/>
              </a:spcAft>
              <a:buClr>
                <a:schemeClr val="dk1"/>
              </a:buClr>
              <a:buSzPts val="1100"/>
              <a:buFont typeface="Arial" panose="020B0604020202020204" pitchFamily="34" charset="0"/>
              <a:buChar char="•"/>
            </a:pPr>
            <a:r>
              <a:rPr lang="es-MX" sz="1600" dirty="0" err="1">
                <a:solidFill>
                  <a:schemeClr val="dk1"/>
                </a:solidFill>
                <a:latin typeface="Work Sans Light"/>
                <a:ea typeface="Work Sans Light"/>
                <a:cs typeface="Work Sans Light"/>
                <a:sym typeface="Work Sans Light"/>
              </a:rPr>
              <a:t>Frontend</a:t>
            </a:r>
            <a:r>
              <a:rPr lang="es-MX" sz="1600" dirty="0">
                <a:solidFill>
                  <a:schemeClr val="dk1"/>
                </a:solidFill>
                <a:latin typeface="Work Sans Light"/>
                <a:ea typeface="Work Sans Light"/>
                <a:cs typeface="Work Sans Light"/>
                <a:sym typeface="Work Sans Light"/>
              </a:rPr>
              <a:t>: HTML5, CSS3, JavaScript v_ES6 (con </a:t>
            </a:r>
            <a:r>
              <a:rPr lang="es-MX" sz="1600" dirty="0" err="1">
                <a:solidFill>
                  <a:schemeClr val="dk1"/>
                </a:solidFill>
                <a:latin typeface="Work Sans Light"/>
                <a:ea typeface="Work Sans Light"/>
                <a:cs typeface="Work Sans Light"/>
                <a:sym typeface="Work Sans Light"/>
              </a:rPr>
              <a:t>React</a:t>
            </a:r>
            <a:r>
              <a:rPr lang="es-MX" sz="1600" dirty="0">
                <a:solidFill>
                  <a:schemeClr val="dk1"/>
                </a:solidFill>
                <a:latin typeface="Work Sans Light"/>
                <a:ea typeface="Work Sans Light"/>
                <a:cs typeface="Work Sans Light"/>
                <a:sym typeface="Work Sans Light"/>
              </a:rPr>
              <a:t> v18.2)</a:t>
            </a:r>
          </a:p>
          <a:p>
            <a:pPr marL="285750" lvl="0" indent="-285750" algn="l" rtl="0">
              <a:lnSpc>
                <a:spcPct val="115000"/>
              </a:lnSpc>
              <a:spcBef>
                <a:spcPts val="1200"/>
              </a:spcBef>
              <a:spcAft>
                <a:spcPts val="0"/>
              </a:spcAft>
              <a:buClr>
                <a:schemeClr val="dk1"/>
              </a:buClr>
              <a:buSzPts val="1100"/>
              <a:buFont typeface="Arial" panose="020B0604020202020204" pitchFamily="34" charset="0"/>
              <a:buChar char="•"/>
            </a:pPr>
            <a:r>
              <a:rPr lang="es-MX" sz="1600" dirty="0">
                <a:solidFill>
                  <a:schemeClr val="dk1"/>
                </a:solidFill>
                <a:latin typeface="Work Sans Light"/>
                <a:ea typeface="Work Sans Light"/>
                <a:cs typeface="Work Sans Light"/>
                <a:sym typeface="Work Sans Light"/>
              </a:rPr>
              <a:t>Infraestructura: Google Cloud (servicios App </a:t>
            </a:r>
            <a:r>
              <a:rPr lang="es-MX" sz="1600" dirty="0" err="1">
                <a:solidFill>
                  <a:schemeClr val="dk1"/>
                </a:solidFill>
                <a:latin typeface="Work Sans Light"/>
                <a:ea typeface="Work Sans Light"/>
                <a:cs typeface="Work Sans Light"/>
                <a:sym typeface="Work Sans Light"/>
              </a:rPr>
              <a:t>Engine</a:t>
            </a:r>
            <a:r>
              <a:rPr lang="es-MX" sz="1600" dirty="0">
                <a:solidFill>
                  <a:schemeClr val="dk1"/>
                </a:solidFill>
                <a:latin typeface="Work Sans Light"/>
                <a:ea typeface="Work Sans Light"/>
                <a:cs typeface="Work Sans Light"/>
                <a:sym typeface="Work Sans Light"/>
              </a:rPr>
              <a:t>/Cloud Run para despliegue de aplicaciones, Cloud SQL para base de datos, y Cloud Storage para </a:t>
            </a:r>
            <a:r>
              <a:rPr lang="es-MX" sz="1600" dirty="0" err="1">
                <a:solidFill>
                  <a:schemeClr val="dk1"/>
                </a:solidFill>
                <a:latin typeface="Work Sans Light"/>
                <a:ea typeface="Work Sans Light"/>
                <a:cs typeface="Work Sans Light"/>
                <a:sym typeface="Work Sans Light"/>
              </a:rPr>
              <a:t>achivos</a:t>
            </a:r>
            <a:r>
              <a:rPr lang="es-MX" sz="1600" dirty="0">
                <a:solidFill>
                  <a:schemeClr val="dk1"/>
                </a:solidFill>
                <a:latin typeface="Work Sans Light"/>
                <a:ea typeface="Work Sans Light"/>
                <a:cs typeface="Work Sans Light"/>
                <a:sym typeface="Work Sans Light"/>
              </a:rPr>
              <a:t>/imágenes)</a:t>
            </a:r>
          </a:p>
          <a:p>
            <a:pPr marL="0" marR="0" lvl="0" indent="0" algn="l" rtl="0">
              <a:spcBef>
                <a:spcPts val="1200"/>
              </a:spcBef>
              <a:spcAft>
                <a:spcPts val="0"/>
              </a:spcAft>
              <a:buNone/>
            </a:pPr>
            <a:endParaRPr sz="1600" dirty="0">
              <a:solidFill>
                <a:schemeClr val="dk1"/>
              </a:solidFill>
              <a:latin typeface="Work Sans Light"/>
              <a:ea typeface="Work Sans Light"/>
              <a:cs typeface="Work Sans Light"/>
              <a:sym typeface="Work Sans Light"/>
            </a:endParaRPr>
          </a:p>
        </p:txBody>
      </p:sp>
      <p:pic>
        <p:nvPicPr>
          <p:cNvPr id="161" name="Google Shape;161;p10"/>
          <p:cNvPicPr preferRelativeResize="0"/>
          <p:nvPr/>
        </p:nvPicPr>
        <p:blipFill>
          <a:blip r:embed="rId3">
            <a:alphaModFix/>
          </a:blip>
          <a:stretch>
            <a:fillRect/>
          </a:stretch>
        </p:blipFill>
        <p:spPr>
          <a:xfrm>
            <a:off x="8083679" y="219200"/>
            <a:ext cx="2763400" cy="110812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8">
          <a:extLst>
            <a:ext uri="{FF2B5EF4-FFF2-40B4-BE49-F238E27FC236}">
              <a16:creationId xmlns:a16="http://schemas.microsoft.com/office/drawing/2014/main" id="{131485BE-CDCD-E636-F936-E72610622FCC}"/>
            </a:ext>
          </a:extLst>
        </p:cNvPr>
        <p:cNvGrpSpPr/>
        <p:nvPr/>
      </p:nvGrpSpPr>
      <p:grpSpPr>
        <a:xfrm>
          <a:off x="0" y="0"/>
          <a:ext cx="0" cy="0"/>
          <a:chOff x="0" y="0"/>
          <a:chExt cx="0" cy="0"/>
        </a:xfrm>
      </p:grpSpPr>
      <p:sp>
        <p:nvSpPr>
          <p:cNvPr id="159" name="Google Shape;159;p10">
            <a:extLst>
              <a:ext uri="{FF2B5EF4-FFF2-40B4-BE49-F238E27FC236}">
                <a16:creationId xmlns:a16="http://schemas.microsoft.com/office/drawing/2014/main" id="{27AE52A3-A52E-1383-CFC1-4019550A02CA}"/>
              </a:ext>
            </a:extLst>
          </p:cNvPr>
          <p:cNvSpPr txBox="1">
            <a:spLocks noGrp="1"/>
          </p:cNvSpPr>
          <p:nvPr>
            <p:ph type="title"/>
          </p:nvPr>
        </p:nvSpPr>
        <p:spPr>
          <a:xfrm>
            <a:off x="456236" y="110481"/>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4400"/>
              <a:buFont typeface="Work Sans Medium"/>
              <a:buNone/>
            </a:pPr>
            <a:r>
              <a:rPr lang="es-MX" dirty="0">
                <a:solidFill>
                  <a:schemeClr val="lt1"/>
                </a:solidFill>
                <a:latin typeface="Work Sans Medium"/>
                <a:ea typeface="Work Sans Medium"/>
                <a:cs typeface="Work Sans Medium"/>
                <a:sym typeface="Work Sans Medium"/>
              </a:rPr>
              <a:t>Delimitación</a:t>
            </a:r>
            <a:endParaRPr dirty="0"/>
          </a:p>
        </p:txBody>
      </p:sp>
      <p:pic>
        <p:nvPicPr>
          <p:cNvPr id="161" name="Google Shape;161;p10">
            <a:extLst>
              <a:ext uri="{FF2B5EF4-FFF2-40B4-BE49-F238E27FC236}">
                <a16:creationId xmlns:a16="http://schemas.microsoft.com/office/drawing/2014/main" id="{B16325A8-B8DC-18C6-17D9-245B5981FC71}"/>
              </a:ext>
            </a:extLst>
          </p:cNvPr>
          <p:cNvPicPr preferRelativeResize="0"/>
          <p:nvPr/>
        </p:nvPicPr>
        <p:blipFill>
          <a:blip r:embed="rId3">
            <a:alphaModFix/>
          </a:blip>
          <a:stretch>
            <a:fillRect/>
          </a:stretch>
        </p:blipFill>
        <p:spPr>
          <a:xfrm>
            <a:off x="8083679" y="219200"/>
            <a:ext cx="2763400" cy="1108125"/>
          </a:xfrm>
          <a:prstGeom prst="rect">
            <a:avLst/>
          </a:prstGeom>
          <a:noFill/>
          <a:ln>
            <a:noFill/>
          </a:ln>
        </p:spPr>
      </p:pic>
      <p:sp>
        <p:nvSpPr>
          <p:cNvPr id="2" name="Google Shape;160;p10">
            <a:extLst>
              <a:ext uri="{FF2B5EF4-FFF2-40B4-BE49-F238E27FC236}">
                <a16:creationId xmlns:a16="http://schemas.microsoft.com/office/drawing/2014/main" id="{7CB3587D-BAE0-A831-E593-A5400F9E2C73}"/>
              </a:ext>
            </a:extLst>
          </p:cNvPr>
          <p:cNvSpPr txBox="1"/>
          <p:nvPr/>
        </p:nvSpPr>
        <p:spPr>
          <a:xfrm>
            <a:off x="456236" y="1880043"/>
            <a:ext cx="11447400" cy="3693278"/>
          </a:xfrm>
          <a:prstGeom prst="rect">
            <a:avLst/>
          </a:prstGeom>
          <a:noFill/>
          <a:ln>
            <a:noFill/>
          </a:ln>
        </p:spPr>
        <p:txBody>
          <a:bodyPr spcFirstLastPara="1" wrap="square" lIns="91425" tIns="45700" rIns="91425" bIns="45700" anchor="t" anchorCtr="0">
            <a:spAutoFit/>
          </a:bodyPr>
          <a:lstStyle/>
          <a:p>
            <a:r>
              <a:rPr lang="es-ES" sz="1600" dirty="0">
                <a:latin typeface="Work Sans Light" pitchFamily="2" charset="0"/>
              </a:rPr>
              <a:t>El proyecto se desarrollará en un periodo estimado de cuatro trimestres, distribuidos en fases de análisis, diseño, desarrollo, pruebas y despliegue en la nube. El cronograma estará representado en un diagrama de Gantt, donde se especifican las tareas principales, los tiempos de ejecución y las dependencias entre actividades.</a:t>
            </a:r>
          </a:p>
          <a:p>
            <a:endParaRPr lang="es-ES" sz="1600" dirty="0">
              <a:latin typeface="Work Sans Light" pitchFamily="2" charset="0"/>
            </a:endParaRPr>
          </a:p>
          <a:p>
            <a:r>
              <a:rPr lang="es-ES" sz="1600" dirty="0">
                <a:latin typeface="Work Sans Light" pitchFamily="2" charset="0"/>
              </a:rPr>
              <a:t>Dentro de las actividades previstas se incluyen la definición de requerimientos, la normalización de la base de datos, la construcción del modelo relacional, la implementación del Frontend en React, el Backend en Django y la integración con la base de datos MySQL en Google Cloud. Las evidencias de cada fase comprenden documentos de análisis, diagramas UML, prototipos funcionales, código fuente y reportes de validación.</a:t>
            </a:r>
          </a:p>
          <a:p>
            <a:endParaRPr lang="es-ES" sz="1600" dirty="0">
              <a:latin typeface="Work Sans Light" pitchFamily="2" charset="0"/>
            </a:endParaRPr>
          </a:p>
          <a:p>
            <a:r>
              <a:rPr lang="es-ES" sz="1600" dirty="0">
                <a:latin typeface="Work Sans Light" pitchFamily="2" charset="0"/>
              </a:rPr>
              <a:t>Los responsables del desarrollo abarcan el equipo de programación encargado de la codificación y pruebas, así como el área académica que supervisa el cumplimiento de los entregables en las fechas establecidas. El proyecto se limita al desarrollo de un prototipo funcional con despliegue en la nube, sin incluir todavía su lanzamiento a un entorno de producción real a gran escala.</a:t>
            </a:r>
          </a:p>
          <a:p>
            <a:pPr marL="0" marR="0" lvl="0" indent="0" algn="l" rtl="0">
              <a:spcBef>
                <a:spcPts val="1200"/>
              </a:spcBef>
              <a:spcAft>
                <a:spcPts val="0"/>
              </a:spcAft>
              <a:buNone/>
            </a:pPr>
            <a:endParaRPr sz="1600" dirty="0">
              <a:solidFill>
                <a:schemeClr val="dk1"/>
              </a:solidFill>
              <a:latin typeface="Work Sans Light"/>
              <a:ea typeface="Work Sans Light"/>
              <a:cs typeface="Work Sans Light"/>
              <a:sym typeface="Work Sans Light"/>
            </a:endParaRPr>
          </a:p>
        </p:txBody>
      </p:sp>
    </p:spTree>
    <p:extLst>
      <p:ext uri="{BB962C8B-B14F-4D97-AF65-F5344CB8AC3E}">
        <p14:creationId xmlns:p14="http://schemas.microsoft.com/office/powerpoint/2010/main" val="22609503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58">
          <a:extLst>
            <a:ext uri="{FF2B5EF4-FFF2-40B4-BE49-F238E27FC236}">
              <a16:creationId xmlns:a16="http://schemas.microsoft.com/office/drawing/2014/main" id="{0B1528FA-CAE8-C288-559F-31B7C83D6F79}"/>
            </a:ext>
          </a:extLst>
        </p:cNvPr>
        <p:cNvGrpSpPr/>
        <p:nvPr/>
      </p:nvGrpSpPr>
      <p:grpSpPr>
        <a:xfrm>
          <a:off x="0" y="0"/>
          <a:ext cx="0" cy="0"/>
          <a:chOff x="0" y="0"/>
          <a:chExt cx="0" cy="0"/>
        </a:xfrm>
      </p:grpSpPr>
      <p:sp>
        <p:nvSpPr>
          <p:cNvPr id="159" name="Google Shape;159;p10">
            <a:extLst>
              <a:ext uri="{FF2B5EF4-FFF2-40B4-BE49-F238E27FC236}">
                <a16:creationId xmlns:a16="http://schemas.microsoft.com/office/drawing/2014/main" id="{7372A789-E702-46B1-C8E6-D9B91DF2D142}"/>
              </a:ext>
            </a:extLst>
          </p:cNvPr>
          <p:cNvSpPr txBox="1">
            <a:spLocks noGrp="1"/>
          </p:cNvSpPr>
          <p:nvPr>
            <p:ph type="title"/>
          </p:nvPr>
        </p:nvSpPr>
        <p:spPr>
          <a:xfrm>
            <a:off x="456236" y="110481"/>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4400"/>
              <a:buFont typeface="Work Sans Medium"/>
              <a:buNone/>
            </a:pPr>
            <a:r>
              <a:rPr lang="es-MX" dirty="0">
                <a:solidFill>
                  <a:schemeClr val="lt1"/>
                </a:solidFill>
                <a:latin typeface="Work Sans Medium"/>
                <a:ea typeface="Work Sans Medium"/>
                <a:cs typeface="Work Sans Medium"/>
                <a:sym typeface="Work Sans Medium"/>
              </a:rPr>
              <a:t>Delimitación</a:t>
            </a:r>
            <a:endParaRPr dirty="0"/>
          </a:p>
        </p:txBody>
      </p:sp>
      <p:pic>
        <p:nvPicPr>
          <p:cNvPr id="161" name="Google Shape;161;p10">
            <a:extLst>
              <a:ext uri="{FF2B5EF4-FFF2-40B4-BE49-F238E27FC236}">
                <a16:creationId xmlns:a16="http://schemas.microsoft.com/office/drawing/2014/main" id="{32985484-D4DA-80D1-AFFC-1225CE378527}"/>
              </a:ext>
            </a:extLst>
          </p:cNvPr>
          <p:cNvPicPr preferRelativeResize="0"/>
          <p:nvPr/>
        </p:nvPicPr>
        <p:blipFill>
          <a:blip r:embed="rId3">
            <a:alphaModFix/>
          </a:blip>
          <a:stretch>
            <a:fillRect/>
          </a:stretch>
        </p:blipFill>
        <p:spPr>
          <a:xfrm>
            <a:off x="8083679" y="219200"/>
            <a:ext cx="2763400" cy="1108125"/>
          </a:xfrm>
          <a:prstGeom prst="rect">
            <a:avLst/>
          </a:prstGeom>
          <a:noFill/>
          <a:ln>
            <a:noFill/>
          </a:ln>
        </p:spPr>
      </p:pic>
      <p:pic>
        <p:nvPicPr>
          <p:cNvPr id="4" name="Imagen 3">
            <a:extLst>
              <a:ext uri="{FF2B5EF4-FFF2-40B4-BE49-F238E27FC236}">
                <a16:creationId xmlns:a16="http://schemas.microsoft.com/office/drawing/2014/main" id="{83BAC6E9-37B8-2F47-7926-7D2F9BEF02B9}"/>
              </a:ext>
            </a:extLst>
          </p:cNvPr>
          <p:cNvPicPr>
            <a:picLocks noChangeAspect="1"/>
          </p:cNvPicPr>
          <p:nvPr/>
        </p:nvPicPr>
        <p:blipFill>
          <a:blip r:embed="rId4"/>
          <a:stretch>
            <a:fillRect/>
          </a:stretch>
        </p:blipFill>
        <p:spPr>
          <a:xfrm>
            <a:off x="2023854" y="1598025"/>
            <a:ext cx="8144292" cy="5040775"/>
          </a:xfrm>
          <a:prstGeom prst="rect">
            <a:avLst/>
          </a:prstGeom>
        </p:spPr>
      </p:pic>
    </p:spTree>
    <p:extLst>
      <p:ext uri="{BB962C8B-B14F-4D97-AF65-F5344CB8AC3E}">
        <p14:creationId xmlns:p14="http://schemas.microsoft.com/office/powerpoint/2010/main" val="63251696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64"/>
        <p:cNvGrpSpPr/>
        <p:nvPr/>
      </p:nvGrpSpPr>
      <p:grpSpPr>
        <a:xfrm>
          <a:off x="0" y="0"/>
          <a:ext cx="0" cy="0"/>
          <a:chOff x="0" y="0"/>
          <a:chExt cx="0" cy="0"/>
        </a:xfrm>
      </p:grpSpPr>
      <p:sp>
        <p:nvSpPr>
          <p:cNvPr id="265" name="Google Shape;265;p14"/>
          <p:cNvSpPr txBox="1">
            <a:spLocks noGrp="1"/>
          </p:cNvSpPr>
          <p:nvPr>
            <p:ph type="title"/>
          </p:nvPr>
        </p:nvSpPr>
        <p:spPr>
          <a:xfrm>
            <a:off x="456236" y="110481"/>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3200"/>
              <a:buFont typeface="Work Sans Medium"/>
              <a:buNone/>
            </a:pPr>
            <a:r>
              <a:rPr lang="es-MX" sz="3200">
                <a:solidFill>
                  <a:schemeClr val="lt1"/>
                </a:solidFill>
                <a:latin typeface="Work Sans Medium"/>
                <a:ea typeface="Work Sans Medium"/>
                <a:cs typeface="Work Sans Medium"/>
                <a:sym typeface="Work Sans Medium"/>
              </a:rPr>
              <a:t>Entregables Proyecto Formativo</a:t>
            </a:r>
            <a:br>
              <a:rPr lang="es-MX" sz="3200">
                <a:solidFill>
                  <a:schemeClr val="lt1"/>
                </a:solidFill>
                <a:latin typeface="Work Sans Medium"/>
                <a:ea typeface="Work Sans Medium"/>
                <a:cs typeface="Work Sans Medium"/>
                <a:sym typeface="Work Sans Medium"/>
              </a:rPr>
            </a:br>
            <a:r>
              <a:rPr lang="es-MX" sz="3200">
                <a:solidFill>
                  <a:schemeClr val="lt1"/>
                </a:solidFill>
                <a:latin typeface="Work Sans Medium"/>
                <a:ea typeface="Work Sans Medium"/>
                <a:cs typeface="Work Sans Medium"/>
                <a:sym typeface="Work Sans Medium"/>
              </a:rPr>
              <a:t>por Trimestre</a:t>
            </a:r>
            <a:endParaRPr sz="3200">
              <a:solidFill>
                <a:schemeClr val="lt1"/>
              </a:solidFill>
              <a:latin typeface="Work Sans Medium"/>
              <a:ea typeface="Work Sans Medium"/>
              <a:cs typeface="Work Sans Medium"/>
              <a:sym typeface="Work Sans Medium"/>
            </a:endParaRPr>
          </a:p>
        </p:txBody>
      </p:sp>
      <p:sp>
        <p:nvSpPr>
          <p:cNvPr id="266" name="Google Shape;266;p14"/>
          <p:cNvSpPr txBox="1"/>
          <p:nvPr/>
        </p:nvSpPr>
        <p:spPr>
          <a:xfrm>
            <a:off x="1366063" y="1881018"/>
            <a:ext cx="3854368" cy="954067"/>
          </a:xfrm>
          <a:prstGeom prst="rect">
            <a:avLst/>
          </a:prstGeom>
          <a:noFill/>
          <a:ln>
            <a:noFill/>
          </a:ln>
        </p:spPr>
        <p:txBody>
          <a:bodyPr spcFirstLastPara="1" wrap="square" lIns="91425" tIns="45700" rIns="91425" bIns="45700" anchor="t" anchorCtr="0">
            <a:spAutoFit/>
          </a:bodyPr>
          <a:lstStyle/>
          <a:p>
            <a:pPr marL="171450" marR="0" lvl="0" indent="-171450" algn="l" rtl="0">
              <a:spcBef>
                <a:spcPts val="0"/>
              </a:spcBef>
              <a:spcAft>
                <a:spcPts val="0"/>
              </a:spcAft>
              <a:buClr>
                <a:schemeClr val="dk1"/>
              </a:buClr>
              <a:buSzPts val="1400"/>
              <a:buFont typeface="Arial"/>
              <a:buChar char="•"/>
            </a:pPr>
            <a:r>
              <a:rPr lang="es-MX" sz="1400" dirty="0">
                <a:solidFill>
                  <a:schemeClr val="dk1"/>
                </a:solidFill>
                <a:latin typeface="Work Sans Light"/>
                <a:ea typeface="Work Sans Light"/>
                <a:cs typeface="Work Sans Light"/>
                <a:sym typeface="Work Sans Light"/>
              </a:rPr>
              <a:t>Formato de Proyecto</a:t>
            </a:r>
          </a:p>
          <a:p>
            <a:pPr marL="171450" indent="-171450">
              <a:buClr>
                <a:schemeClr val="dk1"/>
              </a:buClr>
              <a:buSzPts val="1400"/>
              <a:buFont typeface="Arial"/>
              <a:buChar char="•"/>
            </a:pPr>
            <a:r>
              <a:rPr lang="es-MX" dirty="0">
                <a:solidFill>
                  <a:schemeClr val="dk1"/>
                </a:solidFill>
                <a:latin typeface="Work Sans Light"/>
                <a:sym typeface="Work Sans Light"/>
              </a:rPr>
              <a:t>Recolección de Datos</a:t>
            </a:r>
            <a:endParaRPr lang="es-MX" sz="1400" dirty="0">
              <a:solidFill>
                <a:schemeClr val="dk1"/>
              </a:solidFill>
              <a:latin typeface="Work Sans Light"/>
              <a:ea typeface="Work Sans Light"/>
              <a:cs typeface="Work Sans Light"/>
              <a:sym typeface="Work Sans Light"/>
            </a:endParaRPr>
          </a:p>
          <a:p>
            <a:pPr marL="171450" marR="0" lvl="0" indent="-171450" algn="l" rtl="0">
              <a:spcBef>
                <a:spcPts val="0"/>
              </a:spcBef>
              <a:spcAft>
                <a:spcPts val="0"/>
              </a:spcAft>
              <a:buClr>
                <a:schemeClr val="dk1"/>
              </a:buClr>
              <a:buSzPts val="1400"/>
              <a:buFont typeface="Arial"/>
              <a:buChar char="•"/>
            </a:pPr>
            <a:r>
              <a:rPr lang="es-MX" sz="1400" dirty="0">
                <a:solidFill>
                  <a:schemeClr val="dk1"/>
                </a:solidFill>
                <a:latin typeface="Work Sans Light"/>
                <a:ea typeface="Work Sans Light"/>
                <a:cs typeface="Work Sans Light"/>
                <a:sym typeface="Work Sans Light"/>
              </a:rPr>
              <a:t>Diagrama de Procesos</a:t>
            </a:r>
          </a:p>
          <a:p>
            <a:pPr marL="171450" marR="0" lvl="0" indent="-171450" algn="l" rtl="0">
              <a:spcBef>
                <a:spcPts val="0"/>
              </a:spcBef>
              <a:spcAft>
                <a:spcPts val="0"/>
              </a:spcAft>
              <a:buClr>
                <a:schemeClr val="dk1"/>
              </a:buClr>
              <a:buSzPts val="1400"/>
              <a:buFont typeface="Arial"/>
              <a:buChar char="•"/>
            </a:pPr>
            <a:r>
              <a:rPr lang="es-MX" sz="1400" dirty="0">
                <a:solidFill>
                  <a:schemeClr val="dk1"/>
                </a:solidFill>
                <a:latin typeface="Work Sans Light"/>
                <a:ea typeface="Work Sans Light"/>
                <a:cs typeface="Work Sans Light"/>
                <a:sym typeface="Work Sans Light"/>
              </a:rPr>
              <a:t>IEEE-830</a:t>
            </a:r>
          </a:p>
        </p:txBody>
      </p:sp>
      <p:grpSp>
        <p:nvGrpSpPr>
          <p:cNvPr id="267" name="Google Shape;267;p14"/>
          <p:cNvGrpSpPr/>
          <p:nvPr/>
        </p:nvGrpSpPr>
        <p:grpSpPr>
          <a:xfrm>
            <a:off x="1111717" y="1494678"/>
            <a:ext cx="3239167" cy="347863"/>
            <a:chOff x="668953" y="1494678"/>
            <a:chExt cx="3239167" cy="347863"/>
          </a:xfrm>
        </p:grpSpPr>
        <p:sp>
          <p:nvSpPr>
            <p:cNvPr id="268" name="Google Shape;268;p14"/>
            <p:cNvSpPr/>
            <p:nvPr/>
          </p:nvSpPr>
          <p:spPr>
            <a:xfrm>
              <a:off x="781688" y="1796822"/>
              <a:ext cx="971956" cy="45719"/>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69" name="Google Shape;269;p14"/>
            <p:cNvSpPr txBox="1"/>
            <p:nvPr/>
          </p:nvSpPr>
          <p:spPr>
            <a:xfrm>
              <a:off x="668953" y="1494678"/>
              <a:ext cx="3239167" cy="294592"/>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MX" sz="1800" b="1">
                  <a:solidFill>
                    <a:srgbClr val="38AA00"/>
                  </a:solidFill>
                  <a:latin typeface="Work Sans Light"/>
                  <a:ea typeface="Work Sans Light"/>
                  <a:cs typeface="Work Sans Light"/>
                  <a:sym typeface="Work Sans Light"/>
                </a:rPr>
                <a:t>Primer Trimestre</a:t>
              </a:r>
              <a:endParaRPr/>
            </a:p>
          </p:txBody>
        </p:sp>
      </p:grpSp>
      <p:sp>
        <p:nvSpPr>
          <p:cNvPr id="270" name="Google Shape;270;p14"/>
          <p:cNvSpPr txBox="1"/>
          <p:nvPr/>
        </p:nvSpPr>
        <p:spPr>
          <a:xfrm>
            <a:off x="1366063" y="4602498"/>
            <a:ext cx="3536482" cy="1384954"/>
          </a:xfrm>
          <a:prstGeom prst="rect">
            <a:avLst/>
          </a:prstGeom>
          <a:noFill/>
          <a:ln>
            <a:noFill/>
          </a:ln>
        </p:spPr>
        <p:txBody>
          <a:bodyPr spcFirstLastPara="1" wrap="square" lIns="91425" tIns="45700" rIns="91425" bIns="45700" anchor="t" anchorCtr="0">
            <a:spAutoFit/>
          </a:bodyPr>
          <a:lstStyle/>
          <a:p>
            <a:pPr marL="171450" lvl="0" indent="-171450">
              <a:buClr>
                <a:schemeClr val="dk1"/>
              </a:buClr>
              <a:buSzPts val="1400"/>
              <a:buFont typeface="Arial"/>
              <a:buChar char="•"/>
            </a:pPr>
            <a:r>
              <a:rPr lang="es-MX" dirty="0">
                <a:solidFill>
                  <a:schemeClr val="dk1"/>
                </a:solidFill>
                <a:latin typeface="Work Sans Light"/>
                <a:ea typeface="Work Sans Light"/>
                <a:cs typeface="Work Sans Light"/>
                <a:sym typeface="Work Sans Light"/>
              </a:rPr>
              <a:t>Requisitos Funcionales y</a:t>
            </a:r>
            <a:br>
              <a:rPr lang="es-MX" dirty="0">
                <a:solidFill>
                  <a:schemeClr val="dk1"/>
                </a:solidFill>
                <a:latin typeface="Work Sans Light"/>
                <a:ea typeface="Work Sans Light"/>
                <a:cs typeface="Work Sans Light"/>
                <a:sym typeface="Work Sans Light"/>
              </a:rPr>
            </a:br>
            <a:r>
              <a:rPr lang="es-MX" dirty="0">
                <a:solidFill>
                  <a:schemeClr val="dk1"/>
                </a:solidFill>
                <a:latin typeface="Work Sans Light"/>
                <a:ea typeface="Work Sans Light"/>
                <a:cs typeface="Work Sans Light"/>
                <a:sym typeface="Work Sans Light"/>
              </a:rPr>
              <a:t>No Funcionales</a:t>
            </a:r>
          </a:p>
          <a:p>
            <a:pPr marL="171450" lvl="0" indent="-171450">
              <a:buClr>
                <a:schemeClr val="dk1"/>
              </a:buClr>
              <a:buSzPts val="1400"/>
              <a:buFont typeface="Arial"/>
              <a:buChar char="•"/>
            </a:pPr>
            <a:r>
              <a:rPr lang="es-MX" dirty="0">
                <a:solidFill>
                  <a:schemeClr val="dk1"/>
                </a:solidFill>
                <a:latin typeface="Work Sans Light"/>
                <a:ea typeface="Work Sans Light"/>
                <a:cs typeface="Work Sans Light"/>
                <a:sym typeface="Work Sans Light"/>
              </a:rPr>
              <a:t>Diagrama Casos de Uso</a:t>
            </a:r>
            <a:endParaRPr lang="es-MX" dirty="0"/>
          </a:p>
          <a:p>
            <a:pPr marL="171450" lvl="0" indent="-171450">
              <a:buClr>
                <a:schemeClr val="dk1"/>
              </a:buClr>
              <a:buSzPts val="1400"/>
              <a:buFont typeface="Arial"/>
              <a:buChar char="•"/>
            </a:pPr>
            <a:r>
              <a:rPr lang="es-MX" dirty="0">
                <a:solidFill>
                  <a:schemeClr val="dk1"/>
                </a:solidFill>
                <a:latin typeface="Work Sans Light"/>
                <a:ea typeface="Work Sans Light"/>
                <a:cs typeface="Work Sans Light"/>
                <a:sym typeface="Work Sans Light"/>
              </a:rPr>
              <a:t>Casos de Uso Extendido</a:t>
            </a:r>
          </a:p>
          <a:p>
            <a:pPr marL="171450" lvl="0" indent="-171450">
              <a:buClr>
                <a:schemeClr val="dk1"/>
              </a:buClr>
              <a:buSzPts val="1400"/>
              <a:buFont typeface="Arial"/>
              <a:buChar char="•"/>
            </a:pPr>
            <a:r>
              <a:rPr lang="es-MX" dirty="0">
                <a:solidFill>
                  <a:schemeClr val="dk1"/>
                </a:solidFill>
                <a:latin typeface="Work Sans Light"/>
                <a:sym typeface="Work Sans Light"/>
              </a:rPr>
              <a:t>Fichas Técnicas y Costos</a:t>
            </a:r>
          </a:p>
          <a:p>
            <a:pPr marL="171450" lvl="0" indent="-171450">
              <a:buClr>
                <a:schemeClr val="dk1"/>
              </a:buClr>
              <a:buSzPts val="1400"/>
              <a:buFont typeface="Arial"/>
              <a:buChar char="•"/>
            </a:pPr>
            <a:r>
              <a:rPr lang="es-MX" dirty="0">
                <a:solidFill>
                  <a:schemeClr val="dk1"/>
                </a:solidFill>
                <a:latin typeface="Work Sans Light"/>
                <a:sym typeface="Work Sans Light"/>
              </a:rPr>
              <a:t>Wireframes</a:t>
            </a:r>
            <a:endParaRPr lang="es-MX" dirty="0"/>
          </a:p>
        </p:txBody>
      </p:sp>
      <p:grpSp>
        <p:nvGrpSpPr>
          <p:cNvPr id="271" name="Google Shape;271;p14"/>
          <p:cNvGrpSpPr/>
          <p:nvPr/>
        </p:nvGrpSpPr>
        <p:grpSpPr>
          <a:xfrm>
            <a:off x="1060822" y="4230357"/>
            <a:ext cx="3239167" cy="347863"/>
            <a:chOff x="668953" y="1494678"/>
            <a:chExt cx="3239167" cy="347863"/>
          </a:xfrm>
        </p:grpSpPr>
        <p:sp>
          <p:nvSpPr>
            <p:cNvPr id="272" name="Google Shape;272;p14"/>
            <p:cNvSpPr/>
            <p:nvPr/>
          </p:nvSpPr>
          <p:spPr>
            <a:xfrm>
              <a:off x="781688" y="1796822"/>
              <a:ext cx="971956" cy="45719"/>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73" name="Google Shape;273;p14"/>
            <p:cNvSpPr txBox="1"/>
            <p:nvPr/>
          </p:nvSpPr>
          <p:spPr>
            <a:xfrm>
              <a:off x="668953" y="1494678"/>
              <a:ext cx="3239167" cy="294592"/>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MX" sz="1800" b="1">
                  <a:solidFill>
                    <a:srgbClr val="38AA00"/>
                  </a:solidFill>
                  <a:latin typeface="Work Sans Light"/>
                  <a:ea typeface="Work Sans Light"/>
                  <a:cs typeface="Work Sans Light"/>
                  <a:sym typeface="Work Sans Light"/>
                </a:rPr>
                <a:t>Segundo Trimestre</a:t>
              </a:r>
              <a:endParaRPr/>
            </a:p>
          </p:txBody>
        </p:sp>
      </p:grpSp>
      <p:grpSp>
        <p:nvGrpSpPr>
          <p:cNvPr id="274" name="Google Shape;274;p14"/>
          <p:cNvGrpSpPr/>
          <p:nvPr/>
        </p:nvGrpSpPr>
        <p:grpSpPr>
          <a:xfrm>
            <a:off x="4902545" y="2675450"/>
            <a:ext cx="3239167" cy="347863"/>
            <a:chOff x="668953" y="1494678"/>
            <a:chExt cx="3239167" cy="347863"/>
          </a:xfrm>
        </p:grpSpPr>
        <p:sp>
          <p:nvSpPr>
            <p:cNvPr id="275" name="Google Shape;275;p14"/>
            <p:cNvSpPr/>
            <p:nvPr/>
          </p:nvSpPr>
          <p:spPr>
            <a:xfrm>
              <a:off x="781688" y="1796822"/>
              <a:ext cx="971956" cy="45719"/>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76" name="Google Shape;276;p14"/>
            <p:cNvSpPr txBox="1"/>
            <p:nvPr/>
          </p:nvSpPr>
          <p:spPr>
            <a:xfrm>
              <a:off x="668953" y="1494678"/>
              <a:ext cx="3239167" cy="294592"/>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MX" sz="1800" b="1">
                  <a:solidFill>
                    <a:srgbClr val="38AA00"/>
                  </a:solidFill>
                  <a:latin typeface="Work Sans Light"/>
                  <a:ea typeface="Work Sans Light"/>
                  <a:cs typeface="Work Sans Light"/>
                  <a:sym typeface="Work Sans Light"/>
                </a:rPr>
                <a:t>Tercer Trimestre</a:t>
              </a:r>
              <a:endParaRPr/>
            </a:p>
          </p:txBody>
        </p:sp>
      </p:grpSp>
      <p:sp>
        <p:nvSpPr>
          <p:cNvPr id="277" name="Google Shape;277;p14"/>
          <p:cNvSpPr txBox="1"/>
          <p:nvPr/>
        </p:nvSpPr>
        <p:spPr>
          <a:xfrm>
            <a:off x="5044387" y="3136382"/>
            <a:ext cx="3305954" cy="1815841"/>
          </a:xfrm>
          <a:prstGeom prst="rect">
            <a:avLst/>
          </a:prstGeom>
          <a:noFill/>
          <a:ln>
            <a:noFill/>
          </a:ln>
        </p:spPr>
        <p:txBody>
          <a:bodyPr spcFirstLastPara="1" wrap="square" lIns="91425" tIns="45700" rIns="91425" bIns="45700" anchor="t" anchorCtr="0">
            <a:spAutoFit/>
          </a:bodyPr>
          <a:lstStyle/>
          <a:p>
            <a:pPr marL="285750" lvl="0" indent="-285750">
              <a:buClr>
                <a:schemeClr val="dk1"/>
              </a:buClr>
              <a:buSzPts val="1400"/>
              <a:buFont typeface="Arial"/>
              <a:buChar char="•"/>
            </a:pPr>
            <a:r>
              <a:rPr lang="es-ES" dirty="0">
                <a:solidFill>
                  <a:schemeClr val="dk1"/>
                </a:solidFill>
                <a:latin typeface="Work Sans Light"/>
                <a:ea typeface="Work Sans Light"/>
                <a:cs typeface="Work Sans Light"/>
                <a:sym typeface="Work Sans Light"/>
              </a:rPr>
              <a:t>Modelo Entidad Relación</a:t>
            </a:r>
          </a:p>
          <a:p>
            <a:pPr marL="285750" lvl="0" indent="-285750">
              <a:buClr>
                <a:schemeClr val="dk1"/>
              </a:buClr>
              <a:buSzPts val="1400"/>
              <a:buFont typeface="Arial"/>
              <a:buChar char="•"/>
            </a:pPr>
            <a:r>
              <a:rPr lang="es-ES" dirty="0">
                <a:solidFill>
                  <a:schemeClr val="dk1"/>
                </a:solidFill>
                <a:latin typeface="Work Sans Light"/>
                <a:sym typeface="Work Sans Light"/>
              </a:rPr>
              <a:t>Diagrama de Clases</a:t>
            </a:r>
          </a:p>
          <a:p>
            <a:pPr marL="285750" lvl="0" indent="-285750">
              <a:buClr>
                <a:schemeClr val="dk1"/>
              </a:buClr>
              <a:buSzPts val="1400"/>
              <a:buFont typeface="Arial"/>
              <a:buChar char="•"/>
            </a:pPr>
            <a:r>
              <a:rPr lang="es-ES" dirty="0">
                <a:solidFill>
                  <a:schemeClr val="dk1"/>
                </a:solidFill>
                <a:latin typeface="Work Sans Light"/>
                <a:sym typeface="Work Sans Light"/>
              </a:rPr>
              <a:t>Diagrama de Distribución</a:t>
            </a:r>
            <a:endParaRPr lang="es-ES" dirty="0"/>
          </a:p>
          <a:p>
            <a:pPr marL="285750" lvl="0" indent="-285750">
              <a:buClr>
                <a:schemeClr val="dk1"/>
              </a:buClr>
              <a:buSzPts val="1400"/>
              <a:buFont typeface="Arial"/>
              <a:buChar char="•"/>
            </a:pPr>
            <a:r>
              <a:rPr lang="es-ES" dirty="0">
                <a:solidFill>
                  <a:schemeClr val="dk1"/>
                </a:solidFill>
                <a:latin typeface="Work Sans Light"/>
                <a:ea typeface="Work Sans Light"/>
                <a:cs typeface="Work Sans Light"/>
                <a:sym typeface="Work Sans Light"/>
              </a:rPr>
              <a:t>Modelo Relacional</a:t>
            </a:r>
            <a:endParaRPr lang="es-ES" dirty="0"/>
          </a:p>
          <a:p>
            <a:pPr marL="285750" lvl="0" indent="-285750">
              <a:buClr>
                <a:schemeClr val="dk1"/>
              </a:buClr>
              <a:buSzPts val="1400"/>
              <a:buFont typeface="Arial"/>
              <a:buChar char="•"/>
            </a:pPr>
            <a:r>
              <a:rPr lang="es-ES" dirty="0">
                <a:solidFill>
                  <a:schemeClr val="dk1"/>
                </a:solidFill>
                <a:latin typeface="Work Sans Light"/>
                <a:ea typeface="Work Sans Light"/>
                <a:cs typeface="Work Sans Light"/>
                <a:sym typeface="Work Sans Light"/>
              </a:rPr>
              <a:t>Diccionario de Datos</a:t>
            </a:r>
          </a:p>
          <a:p>
            <a:pPr marL="285750" lvl="0" indent="-285750">
              <a:buClr>
                <a:schemeClr val="dk1"/>
              </a:buClr>
              <a:buSzPts val="1400"/>
              <a:buFont typeface="Arial"/>
              <a:buChar char="•"/>
            </a:pPr>
            <a:r>
              <a:rPr lang="es-ES" dirty="0">
                <a:solidFill>
                  <a:schemeClr val="dk1"/>
                </a:solidFill>
                <a:latin typeface="Work Sans Light"/>
                <a:ea typeface="Work Sans Light"/>
                <a:cs typeface="Work Sans Light"/>
                <a:sym typeface="Work Sans Light"/>
              </a:rPr>
              <a:t>Normalización Modelo Relacional</a:t>
            </a:r>
          </a:p>
          <a:p>
            <a:pPr marL="285750" indent="-285750">
              <a:buClr>
                <a:schemeClr val="dk1"/>
              </a:buClr>
              <a:buSzPts val="1400"/>
              <a:buFont typeface="Arial"/>
              <a:buChar char="•"/>
            </a:pPr>
            <a:r>
              <a:rPr lang="es-MX" dirty="0">
                <a:solidFill>
                  <a:schemeClr val="dk1"/>
                </a:solidFill>
                <a:latin typeface="Work Sans Light"/>
                <a:ea typeface="Work Sans Light"/>
                <a:cs typeface="Work Sans Light"/>
                <a:sym typeface="Work Sans Light"/>
              </a:rPr>
              <a:t>Prototipo No Funcional</a:t>
            </a:r>
          </a:p>
          <a:p>
            <a:pPr marL="285750" lvl="0" indent="-285750">
              <a:buClr>
                <a:schemeClr val="dk1"/>
              </a:buClr>
              <a:buSzPts val="1400"/>
              <a:buFont typeface="Arial"/>
              <a:buChar char="•"/>
            </a:pPr>
            <a:endParaRPr sz="1400" dirty="0">
              <a:solidFill>
                <a:schemeClr val="dk1"/>
              </a:solidFill>
              <a:latin typeface="Work Sans Light"/>
              <a:ea typeface="Work Sans Light"/>
              <a:cs typeface="Work Sans Light"/>
              <a:sym typeface="Work Sans Light"/>
            </a:endParaRPr>
          </a:p>
        </p:txBody>
      </p:sp>
      <p:grpSp>
        <p:nvGrpSpPr>
          <p:cNvPr id="278" name="Google Shape;278;p14"/>
          <p:cNvGrpSpPr/>
          <p:nvPr/>
        </p:nvGrpSpPr>
        <p:grpSpPr>
          <a:xfrm>
            <a:off x="4909555" y="4722219"/>
            <a:ext cx="3239167" cy="347863"/>
            <a:chOff x="668953" y="1494678"/>
            <a:chExt cx="3239167" cy="347863"/>
          </a:xfrm>
        </p:grpSpPr>
        <p:sp>
          <p:nvSpPr>
            <p:cNvPr id="279" name="Google Shape;279;p14"/>
            <p:cNvSpPr/>
            <p:nvPr/>
          </p:nvSpPr>
          <p:spPr>
            <a:xfrm>
              <a:off x="781688" y="1796822"/>
              <a:ext cx="971956" cy="45719"/>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80" name="Google Shape;280;p14"/>
            <p:cNvSpPr txBox="1"/>
            <p:nvPr/>
          </p:nvSpPr>
          <p:spPr>
            <a:xfrm>
              <a:off x="668953" y="1494678"/>
              <a:ext cx="3239167" cy="294592"/>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MX" sz="1800" b="1">
                  <a:solidFill>
                    <a:srgbClr val="38AA00"/>
                  </a:solidFill>
                  <a:latin typeface="Work Sans Light"/>
                  <a:ea typeface="Work Sans Light"/>
                  <a:cs typeface="Work Sans Light"/>
                  <a:sym typeface="Work Sans Light"/>
                </a:rPr>
                <a:t>Cuarto Trimestre</a:t>
              </a:r>
              <a:endParaRPr/>
            </a:p>
          </p:txBody>
        </p:sp>
      </p:grpSp>
      <p:sp>
        <p:nvSpPr>
          <p:cNvPr id="281" name="Google Shape;281;p14"/>
          <p:cNvSpPr txBox="1"/>
          <p:nvPr/>
        </p:nvSpPr>
        <p:spPr>
          <a:xfrm>
            <a:off x="5138058" y="5219739"/>
            <a:ext cx="3325018" cy="1384954"/>
          </a:xfrm>
          <a:prstGeom prst="rect">
            <a:avLst/>
          </a:prstGeom>
          <a:noFill/>
          <a:ln>
            <a:noFill/>
          </a:ln>
        </p:spPr>
        <p:txBody>
          <a:bodyPr spcFirstLastPara="1" wrap="square" lIns="91425" tIns="45700" rIns="91425" bIns="45700" anchor="t" anchorCtr="0">
            <a:spAutoFit/>
          </a:bodyPr>
          <a:lstStyle/>
          <a:p>
            <a:pPr marL="285750" lvl="0" indent="-285750">
              <a:buClr>
                <a:schemeClr val="dk1"/>
              </a:buClr>
              <a:buSzPts val="1400"/>
              <a:buFont typeface="Arial"/>
              <a:buChar char="•"/>
            </a:pPr>
            <a:r>
              <a:rPr lang="es-ES" dirty="0">
                <a:solidFill>
                  <a:schemeClr val="dk1"/>
                </a:solidFill>
                <a:latin typeface="Work Sans Light"/>
                <a:ea typeface="Work Sans Light"/>
                <a:cs typeface="Work Sans Light"/>
                <a:sym typeface="Work Sans Light"/>
              </a:rPr>
              <a:t>Script de la BBDD</a:t>
            </a:r>
            <a:endParaRPr lang="es-ES" dirty="0"/>
          </a:p>
          <a:p>
            <a:pPr marL="285750" lvl="0" indent="-285750">
              <a:buClr>
                <a:schemeClr val="dk1"/>
              </a:buClr>
              <a:buSzPts val="1400"/>
              <a:buFont typeface="Arial"/>
              <a:buChar char="•"/>
            </a:pPr>
            <a:r>
              <a:rPr lang="es-ES" dirty="0">
                <a:solidFill>
                  <a:schemeClr val="dk1"/>
                </a:solidFill>
                <a:latin typeface="Work Sans Light"/>
                <a:ea typeface="Work Sans Light"/>
                <a:cs typeface="Work Sans Light"/>
                <a:sym typeface="Work Sans Light"/>
              </a:rPr>
              <a:t>Sentencias DDL</a:t>
            </a:r>
            <a:endParaRPr lang="es-ES" dirty="0"/>
          </a:p>
          <a:p>
            <a:pPr marL="285750" lvl="0" indent="-285750">
              <a:buClr>
                <a:schemeClr val="dk1"/>
              </a:buClr>
              <a:buSzPts val="1400"/>
              <a:buFont typeface="Arial"/>
              <a:buChar char="•"/>
            </a:pPr>
            <a:r>
              <a:rPr lang="es-ES" dirty="0">
                <a:solidFill>
                  <a:schemeClr val="dk1"/>
                </a:solidFill>
                <a:latin typeface="Work Sans Light"/>
                <a:ea typeface="Work Sans Light"/>
                <a:cs typeface="Work Sans Light"/>
                <a:sym typeface="Work Sans Light"/>
              </a:rPr>
              <a:t>Consultas DML</a:t>
            </a:r>
            <a:endParaRPr lang="es-ES" dirty="0"/>
          </a:p>
          <a:p>
            <a:pPr marL="285750" lvl="0" indent="-285750">
              <a:buClr>
                <a:schemeClr val="dk1"/>
              </a:buClr>
              <a:buSzPts val="1400"/>
              <a:buFont typeface="Arial"/>
              <a:buChar char="•"/>
            </a:pPr>
            <a:r>
              <a:rPr lang="es-ES" dirty="0">
                <a:solidFill>
                  <a:schemeClr val="dk1"/>
                </a:solidFill>
                <a:latin typeface="Work Sans Light"/>
                <a:ea typeface="Work Sans Light"/>
                <a:cs typeface="Work Sans Light"/>
                <a:sym typeface="Work Sans Light"/>
              </a:rPr>
              <a:t>Automatización de la BBDD</a:t>
            </a:r>
            <a:endParaRPr lang="es-ES" dirty="0"/>
          </a:p>
          <a:p>
            <a:pPr marL="285750" lvl="0" indent="-285750">
              <a:buClr>
                <a:schemeClr val="dk1"/>
              </a:buClr>
              <a:buSzPts val="1400"/>
              <a:buFont typeface="Arial"/>
              <a:buChar char="•"/>
            </a:pPr>
            <a:r>
              <a:rPr lang="es-ES" dirty="0">
                <a:solidFill>
                  <a:schemeClr val="dk1"/>
                </a:solidFill>
                <a:latin typeface="Work Sans Light"/>
                <a:ea typeface="Work Sans Light"/>
                <a:cs typeface="Work Sans Light"/>
                <a:sym typeface="Work Sans Light"/>
              </a:rPr>
              <a:t>Sistema de Información Web – Servidor Local</a:t>
            </a:r>
            <a:endParaRPr lang="es-MX" sz="1400" dirty="0">
              <a:solidFill>
                <a:schemeClr val="dk1"/>
              </a:solidFill>
              <a:latin typeface="Work Sans Light"/>
              <a:ea typeface="Work Sans Light"/>
              <a:cs typeface="Work Sans Light"/>
              <a:sym typeface="Work Sans Light"/>
            </a:endParaRPr>
          </a:p>
        </p:txBody>
      </p:sp>
      <p:grpSp>
        <p:nvGrpSpPr>
          <p:cNvPr id="282" name="Google Shape;282;p14"/>
          <p:cNvGrpSpPr/>
          <p:nvPr/>
        </p:nvGrpSpPr>
        <p:grpSpPr>
          <a:xfrm>
            <a:off x="8350341" y="3568215"/>
            <a:ext cx="3239167" cy="347863"/>
            <a:chOff x="668953" y="1494678"/>
            <a:chExt cx="3239167" cy="347863"/>
          </a:xfrm>
        </p:grpSpPr>
        <p:sp>
          <p:nvSpPr>
            <p:cNvPr id="283" name="Google Shape;283;p14"/>
            <p:cNvSpPr/>
            <p:nvPr/>
          </p:nvSpPr>
          <p:spPr>
            <a:xfrm>
              <a:off x="781688" y="1796822"/>
              <a:ext cx="971956" cy="45719"/>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84" name="Google Shape;284;p14"/>
            <p:cNvSpPr txBox="1"/>
            <p:nvPr/>
          </p:nvSpPr>
          <p:spPr>
            <a:xfrm>
              <a:off x="668953" y="1494678"/>
              <a:ext cx="3239167" cy="294592"/>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MX" sz="1800" b="1">
                  <a:solidFill>
                    <a:srgbClr val="38AA00"/>
                  </a:solidFill>
                  <a:latin typeface="Work Sans Light"/>
                  <a:ea typeface="Work Sans Light"/>
                  <a:cs typeface="Work Sans Light"/>
                  <a:sym typeface="Work Sans Light"/>
                </a:rPr>
                <a:t>Quinto Trimestre</a:t>
              </a:r>
              <a:endParaRPr/>
            </a:p>
          </p:txBody>
        </p:sp>
      </p:grpSp>
      <p:sp>
        <p:nvSpPr>
          <p:cNvPr id="285" name="Google Shape;285;p14"/>
          <p:cNvSpPr txBox="1"/>
          <p:nvPr/>
        </p:nvSpPr>
        <p:spPr>
          <a:xfrm>
            <a:off x="8578844" y="4065735"/>
            <a:ext cx="2750090" cy="1815841"/>
          </a:xfrm>
          <a:prstGeom prst="rect">
            <a:avLst/>
          </a:prstGeom>
          <a:noFill/>
          <a:ln>
            <a:noFill/>
          </a:ln>
        </p:spPr>
        <p:txBody>
          <a:bodyPr spcFirstLastPara="1" wrap="square" lIns="91425" tIns="45700" rIns="91425" bIns="45700" anchor="t" anchorCtr="0">
            <a:spAutoFit/>
          </a:bodyPr>
          <a:lstStyle/>
          <a:p>
            <a:pPr marL="171450" lvl="0" indent="-171450">
              <a:buClr>
                <a:schemeClr val="dk1"/>
              </a:buClr>
              <a:buSzPts val="1400"/>
              <a:buFont typeface="Arial"/>
              <a:buChar char="•"/>
            </a:pPr>
            <a:r>
              <a:rPr lang="es-ES" dirty="0">
                <a:solidFill>
                  <a:schemeClr val="dk1"/>
                </a:solidFill>
                <a:latin typeface="Work Sans Light"/>
                <a:ea typeface="Work Sans Light"/>
                <a:cs typeface="Work Sans Light"/>
                <a:sym typeface="Work Sans Light"/>
              </a:rPr>
              <a:t>Manual de Instalación </a:t>
            </a:r>
            <a:endParaRPr lang="es-ES" dirty="0"/>
          </a:p>
          <a:p>
            <a:pPr marL="171450" lvl="0" indent="-171450">
              <a:buClr>
                <a:schemeClr val="dk1"/>
              </a:buClr>
              <a:buSzPts val="1400"/>
              <a:buFont typeface="Arial"/>
              <a:buChar char="•"/>
            </a:pPr>
            <a:r>
              <a:rPr lang="es-ES" dirty="0">
                <a:solidFill>
                  <a:schemeClr val="dk1"/>
                </a:solidFill>
                <a:latin typeface="Work Sans Light"/>
                <a:ea typeface="Work Sans Light"/>
                <a:cs typeface="Work Sans Light"/>
                <a:sym typeface="Work Sans Light"/>
              </a:rPr>
              <a:t>Configuración del Servidor de Aplicaciones</a:t>
            </a:r>
            <a:endParaRPr lang="es-ES" dirty="0"/>
          </a:p>
          <a:p>
            <a:pPr marL="171450" lvl="0" indent="-171450">
              <a:buClr>
                <a:schemeClr val="dk1"/>
              </a:buClr>
              <a:buSzPts val="1400"/>
              <a:buFont typeface="Arial"/>
              <a:buChar char="•"/>
            </a:pPr>
            <a:r>
              <a:rPr lang="es-ES" dirty="0">
                <a:solidFill>
                  <a:schemeClr val="dk1"/>
                </a:solidFill>
                <a:latin typeface="Work Sans Light"/>
                <a:ea typeface="Work Sans Light"/>
                <a:cs typeface="Work Sans Light"/>
                <a:sym typeface="Work Sans Light"/>
              </a:rPr>
              <a:t>Configuración del Servidor de BBDD</a:t>
            </a:r>
            <a:endParaRPr lang="es-MX" sz="1400" dirty="0">
              <a:solidFill>
                <a:schemeClr val="dk1"/>
              </a:solidFill>
              <a:latin typeface="Work Sans Light"/>
              <a:ea typeface="Work Sans Light"/>
              <a:cs typeface="Work Sans Light"/>
              <a:sym typeface="Work Sans Light"/>
            </a:endParaRPr>
          </a:p>
          <a:p>
            <a:pPr marL="171450" marR="0" lvl="0" indent="-171450" algn="l" rtl="0">
              <a:spcBef>
                <a:spcPts val="0"/>
              </a:spcBef>
              <a:spcAft>
                <a:spcPts val="0"/>
              </a:spcAft>
              <a:buClr>
                <a:schemeClr val="dk1"/>
              </a:buClr>
              <a:buSzPts val="1400"/>
              <a:buFont typeface="Arial"/>
              <a:buChar char="•"/>
            </a:pPr>
            <a:r>
              <a:rPr lang="es-MX" sz="1400" dirty="0">
                <a:solidFill>
                  <a:schemeClr val="dk1"/>
                </a:solidFill>
                <a:latin typeface="Work Sans Light"/>
                <a:ea typeface="Work Sans Light"/>
                <a:cs typeface="Work Sans Light"/>
                <a:sym typeface="Work Sans Light"/>
              </a:rPr>
              <a:t>Manual de Usuario</a:t>
            </a:r>
            <a:endParaRPr dirty="0"/>
          </a:p>
          <a:p>
            <a:pPr marL="171450" marR="0" lvl="0" indent="-171450" algn="l" rtl="0">
              <a:spcBef>
                <a:spcPts val="0"/>
              </a:spcBef>
              <a:spcAft>
                <a:spcPts val="0"/>
              </a:spcAft>
              <a:buClr>
                <a:schemeClr val="dk1"/>
              </a:buClr>
              <a:buSzPts val="1400"/>
              <a:buFont typeface="Arial"/>
              <a:buChar char="•"/>
            </a:pPr>
            <a:r>
              <a:rPr lang="es-MX" sz="1400" dirty="0">
                <a:solidFill>
                  <a:schemeClr val="dk1"/>
                </a:solidFill>
                <a:latin typeface="Work Sans Light"/>
                <a:ea typeface="Work Sans Light"/>
                <a:cs typeface="Work Sans Light"/>
                <a:sym typeface="Work Sans Light"/>
              </a:rPr>
              <a:t>Sistema de Información Web – Servidor Externo</a:t>
            </a:r>
            <a:endParaRPr sz="1400" dirty="0">
              <a:solidFill>
                <a:schemeClr val="dk1"/>
              </a:solidFill>
              <a:latin typeface="Work Sans Light"/>
              <a:ea typeface="Work Sans Light"/>
              <a:cs typeface="Work Sans Light"/>
              <a:sym typeface="Work Sans Light"/>
            </a:endParaRPr>
          </a:p>
        </p:txBody>
      </p:sp>
      <p:pic>
        <p:nvPicPr>
          <p:cNvPr id="286" name="Google Shape;286;p14"/>
          <p:cNvPicPr preferRelativeResize="0"/>
          <p:nvPr/>
        </p:nvPicPr>
        <p:blipFill>
          <a:blip r:embed="rId3">
            <a:alphaModFix/>
          </a:blip>
          <a:stretch>
            <a:fillRect/>
          </a:stretch>
        </p:blipFill>
        <p:spPr>
          <a:xfrm>
            <a:off x="8083679" y="219200"/>
            <a:ext cx="2763400" cy="1108125"/>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90"/>
        <p:cNvGrpSpPr/>
        <p:nvPr/>
      </p:nvGrpSpPr>
      <p:grpSpPr>
        <a:xfrm>
          <a:off x="0" y="0"/>
          <a:ext cx="0" cy="0"/>
          <a:chOff x="0" y="0"/>
          <a:chExt cx="0" cy="0"/>
        </a:xfrm>
      </p:grpSpPr>
      <p:pic>
        <p:nvPicPr>
          <p:cNvPr id="291" name="Google Shape;291;p15" descr="Imagen que contiene Interfaz de usuario gráfica&#10;&#10;Descripción generada automáticamente"/>
          <p:cNvPicPr preferRelativeResize="0"/>
          <p:nvPr/>
        </p:nvPicPr>
        <p:blipFill rotWithShape="1">
          <a:blip r:embed="rId3">
            <a:alphaModFix/>
          </a:blip>
          <a:srcRect/>
          <a:stretch/>
        </p:blipFill>
        <p:spPr>
          <a:xfrm>
            <a:off x="0" y="0"/>
            <a:ext cx="12192000" cy="6858000"/>
          </a:xfrm>
          <a:prstGeom prst="rect">
            <a:avLst/>
          </a:prstGeom>
          <a:noFill/>
          <a:ln>
            <a:noFill/>
          </a:ln>
        </p:spPr>
      </p:pic>
    </p:spTree>
  </p:cSld>
  <p:clrMapOvr>
    <a:masterClrMapping/>
  </p:clrMapOvr>
</p:sld>
</file>

<file path=ppt/theme/theme1.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382</TotalTime>
  <Words>934</Words>
  <Application>Microsoft Office PowerPoint</Application>
  <PresentationFormat>Panorámica</PresentationFormat>
  <Paragraphs>87</Paragraphs>
  <Slides>12</Slides>
  <Notes>12</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12</vt:i4>
      </vt:variant>
    </vt:vector>
  </HeadingPairs>
  <TitlesOfParts>
    <vt:vector size="18" baseType="lpstr">
      <vt:lpstr>Work Sans Light</vt:lpstr>
      <vt:lpstr>Arial</vt:lpstr>
      <vt:lpstr>Work Sans</vt:lpstr>
      <vt:lpstr>Calibri</vt:lpstr>
      <vt:lpstr>Work Sans Medium</vt:lpstr>
      <vt:lpstr>Tema de Office</vt:lpstr>
      <vt:lpstr>Presentación de PowerPoint</vt:lpstr>
      <vt:lpstr>Presentación de PowerPoint</vt:lpstr>
      <vt:lpstr>Presentación de PowerPoint</vt:lpstr>
      <vt:lpstr>Presentación de PowerPoint</vt:lpstr>
      <vt:lpstr>Problema</vt:lpstr>
      <vt:lpstr>Presentación de PowerPoint</vt:lpstr>
      <vt:lpstr>Justificación</vt:lpstr>
      <vt:lpstr>Alcance</vt:lpstr>
      <vt:lpstr>Delimitación</vt:lpstr>
      <vt:lpstr>Delimitación</vt:lpstr>
      <vt:lpstr>Entregables Proyecto Formativo por Trimestre</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Jorge Enrique Pedraza Sanchez</dc:creator>
  <cp:lastModifiedBy>Paula Andrea Forero Borda</cp:lastModifiedBy>
  <cp:revision>2</cp:revision>
  <dcterms:created xsi:type="dcterms:W3CDTF">2020-10-01T23:51:28Z</dcterms:created>
  <dcterms:modified xsi:type="dcterms:W3CDTF">2025-12-15T14:23:04Z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299739c-ad3d-4908-806e-4d91151a6e13_Enabled">
    <vt:lpwstr>true</vt:lpwstr>
  </property>
  <property fmtid="{D5CDD505-2E9C-101B-9397-08002B2CF9AE}" pid="3" name="MSIP_Label_1299739c-ad3d-4908-806e-4d91151a6e13_Method">
    <vt:lpwstr>Standard</vt:lpwstr>
  </property>
  <property fmtid="{D5CDD505-2E9C-101B-9397-08002B2CF9AE}" pid="4" name="MSIP_Label_1299739c-ad3d-4908-806e-4d91151a6e13_Name">
    <vt:lpwstr>All Employees (Unrestricted)</vt:lpwstr>
  </property>
  <property fmtid="{D5CDD505-2E9C-101B-9397-08002B2CF9AE}" pid="5" name="MSIP_Label_1299739c-ad3d-4908-806e-4d91151a6e13_SiteId">
    <vt:lpwstr>cbc2c381-2f2e-4d93-91d1-506c9316ace7</vt:lpwstr>
  </property>
  <property fmtid="{D5CDD505-2E9C-101B-9397-08002B2CF9AE}" pid="6" name="MSIP_Label_1299739c-ad3d-4908-806e-4d91151a6e13_ContentBits">
    <vt:lpwstr>0</vt:lpwstr>
  </property>
  <property fmtid="{D5CDD505-2E9C-101B-9397-08002B2CF9AE}" pid="7" name="MSIP_Label_1299739c-ad3d-4908-806e-4d91151a6e13_SetDate">
    <vt:lpwstr>2022-08-12T19:17:55Z</vt:lpwstr>
  </property>
  <property fmtid="{D5CDD505-2E9C-101B-9397-08002B2CF9AE}" pid="8" name="MSIP_Label_1299739c-ad3d-4908-806e-4d91151a6e13_ActionId">
    <vt:lpwstr>8c6bc714-34a9-4b82-914e-50b1377a2da4</vt:lpwstr>
  </property>
</Properties>
</file>